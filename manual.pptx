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7" r:id="rId4"/>
    <p:sldId id="259" r:id="rId5"/>
    <p:sldId id="260" r:id="rId6"/>
    <p:sldId id="262" r:id="rId7"/>
    <p:sldId id="271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  <p:sldId id="27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9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899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353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198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102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63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1939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996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53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119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779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665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DE5AC-CE6A-4BF3-88B0-C67A936732FF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CD31DD-CD27-4566-B957-3307A87E32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372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my-erp-66zbzaffpenjtjjf2kengo.streamlit.app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CC718D-0667-2500-6D82-FC0DF68EB5EA}"/>
              </a:ext>
            </a:extLst>
          </p:cNvPr>
          <p:cNvSpPr txBox="1"/>
          <p:nvPr/>
        </p:nvSpPr>
        <p:spPr>
          <a:xfrm>
            <a:off x="1" y="1228398"/>
            <a:ext cx="914399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2800" b="1" dirty="0"/>
              <a:t>🏭 </a:t>
            </a:r>
            <a:r>
              <a:rPr lang="ko-KR" altLang="en-US" sz="2800" b="1" dirty="0" err="1"/>
              <a:t>광주오포센터</a:t>
            </a:r>
            <a:r>
              <a:rPr lang="ko-KR" altLang="en-US" sz="2800" b="1" dirty="0"/>
              <a:t> 자동화 </a:t>
            </a:r>
            <a:r>
              <a:rPr lang="en-US" altLang="ko-KR" sz="2800" b="1" dirty="0"/>
              <a:t>ERP </a:t>
            </a:r>
            <a:r>
              <a:rPr lang="ko-KR" altLang="en-US" sz="2800" b="1" dirty="0"/>
              <a:t>시스템 사용 매뉴얼</a:t>
            </a:r>
            <a:endParaRPr lang="en-US" altLang="ko-KR" sz="2800" b="1" dirty="0"/>
          </a:p>
          <a:p>
            <a:pPr>
              <a:buNone/>
            </a:pPr>
            <a:endParaRPr lang="ko-KR" altLang="en-US" sz="2800" b="1" dirty="0"/>
          </a:p>
          <a:p>
            <a:pPr>
              <a:buNone/>
            </a:pPr>
            <a:r>
              <a:rPr lang="ko-KR" altLang="en-US" sz="2800" dirty="0"/>
              <a:t>안녕하세요</a:t>
            </a:r>
            <a:r>
              <a:rPr lang="en-US" altLang="ko-KR" sz="2800" dirty="0"/>
              <a:t>! </a:t>
            </a:r>
            <a:r>
              <a:rPr lang="ko-KR" altLang="en-US" sz="2800" dirty="0"/>
              <a:t>본 시스템은 </a:t>
            </a:r>
            <a:r>
              <a:rPr lang="ko-KR" altLang="en-US" sz="2800" dirty="0" err="1"/>
              <a:t>광주오포센터</a:t>
            </a:r>
            <a:r>
              <a:rPr lang="ko-KR" altLang="en-US" sz="2800" dirty="0"/>
              <a:t> 자재 관리의 효율성을 높이고</a:t>
            </a:r>
            <a:r>
              <a:rPr lang="en-US" altLang="ko-KR" sz="2800" dirty="0"/>
              <a:t>, </a:t>
            </a:r>
            <a:r>
              <a:rPr lang="ko-KR" altLang="en-US" sz="2800" dirty="0"/>
              <a:t>실시간 재고 현황 파악 및 입출고 이력 관리를 위해 제작된 자동화 </a:t>
            </a:r>
            <a:r>
              <a:rPr lang="en-US" altLang="ko-KR" sz="2800" dirty="0"/>
              <a:t>ERP </a:t>
            </a:r>
            <a:r>
              <a:rPr lang="ko-KR" altLang="en-US" sz="2800" dirty="0"/>
              <a:t>웹 애플리케이션입니다</a:t>
            </a:r>
            <a:r>
              <a:rPr lang="en-US" altLang="ko-KR" sz="2800" dirty="0"/>
              <a:t>.</a:t>
            </a:r>
          </a:p>
          <a:p>
            <a:pPr>
              <a:buNone/>
            </a:pPr>
            <a:endParaRPr lang="en-US" altLang="ko-KR" sz="2800" dirty="0"/>
          </a:p>
          <a:p>
            <a:pPr>
              <a:buNone/>
            </a:pPr>
            <a:r>
              <a:rPr lang="ko-KR" altLang="en-US" sz="2800" dirty="0"/>
              <a:t>오픈 </a:t>
            </a:r>
            <a:r>
              <a:rPr lang="en-US" altLang="ko-KR" sz="2800" dirty="0"/>
              <a:t>AI</a:t>
            </a:r>
            <a:r>
              <a:rPr lang="ko-KR" altLang="en-US" sz="2800" dirty="0"/>
              <a:t>인 </a:t>
            </a:r>
            <a:r>
              <a:rPr lang="ko-KR" altLang="en-US" sz="2800" dirty="0" err="1"/>
              <a:t>제미나이를</a:t>
            </a:r>
            <a:r>
              <a:rPr lang="ko-KR" altLang="en-US" sz="2800" dirty="0"/>
              <a:t> 통해 제작된 앱으로</a:t>
            </a:r>
            <a:endParaRPr lang="en-US" altLang="ko-KR" sz="2800" dirty="0"/>
          </a:p>
          <a:p>
            <a:pPr>
              <a:buNone/>
            </a:pPr>
            <a:r>
              <a:rPr lang="ko-KR" altLang="en-US" sz="2800" dirty="0"/>
              <a:t>수정 및 조치는 모두 </a:t>
            </a:r>
            <a:r>
              <a:rPr lang="en-US" altLang="ko-KR" sz="2800" dirty="0"/>
              <a:t>AI</a:t>
            </a:r>
            <a:r>
              <a:rPr lang="ko-KR" altLang="en-US" sz="2800" dirty="0"/>
              <a:t>를 통해 진행되어왔습니다</a:t>
            </a:r>
            <a:r>
              <a:rPr lang="en-US" altLang="ko-KR" sz="2800" dirty="0"/>
              <a:t>.</a:t>
            </a:r>
          </a:p>
          <a:p>
            <a:pPr>
              <a:buNone/>
            </a:pPr>
            <a:r>
              <a:rPr lang="ko-KR" altLang="en-US" sz="2800" dirty="0"/>
              <a:t>요구사항을 세부적으로 정확하게 입력하시면</a:t>
            </a:r>
            <a:r>
              <a:rPr lang="en-US" altLang="ko-KR" sz="2800" dirty="0"/>
              <a:t>, </a:t>
            </a:r>
            <a:r>
              <a:rPr lang="ko-KR" altLang="en-US" sz="2800" dirty="0"/>
              <a:t>코딩 관련 지식이 없어도 </a:t>
            </a:r>
            <a:r>
              <a:rPr lang="ko-KR" altLang="en-US" sz="2800" dirty="0" err="1"/>
              <a:t>무리없이</a:t>
            </a:r>
            <a:r>
              <a:rPr lang="ko-KR" altLang="en-US" sz="2800" dirty="0"/>
              <a:t> 업무를 수행하실 수 있습니다</a:t>
            </a:r>
            <a:r>
              <a:rPr lang="en-US" altLang="ko-KR" sz="2800" dirty="0"/>
              <a:t>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07565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AE3F8-44E1-1C49-E427-6F9D15B87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882C12-ECE8-75B6-6F71-397A1DBF941C}"/>
              </a:ext>
            </a:extLst>
          </p:cNvPr>
          <p:cNvSpPr txBox="1"/>
          <p:nvPr/>
        </p:nvSpPr>
        <p:spPr>
          <a:xfrm>
            <a:off x="-1" y="160317"/>
            <a:ext cx="9144001" cy="6537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2800" b="1" dirty="0"/>
              <a:t>🏭 </a:t>
            </a:r>
            <a:r>
              <a:rPr lang="ko-KR" altLang="en-US" sz="2800" b="1" dirty="0" err="1"/>
              <a:t>광주오포센터</a:t>
            </a:r>
            <a:r>
              <a:rPr lang="ko-KR" altLang="en-US" sz="2800" b="1" dirty="0"/>
              <a:t> 자동화 </a:t>
            </a:r>
            <a:r>
              <a:rPr lang="en-US" altLang="ko-KR" sz="2800" b="1" dirty="0"/>
              <a:t>ERP </a:t>
            </a:r>
            <a:r>
              <a:rPr lang="ko-KR" altLang="en-US" sz="2800" b="1" dirty="0"/>
              <a:t>시스템 주소 및 관리자 계정</a:t>
            </a:r>
            <a:endParaRPr lang="en-US" altLang="ko-KR" sz="2800" b="1" dirty="0"/>
          </a:p>
          <a:p>
            <a:pPr>
              <a:buNone/>
            </a:pPr>
            <a:endParaRPr lang="en-US" altLang="ko-KR" sz="2800" b="1" dirty="0"/>
          </a:p>
          <a:p>
            <a:pPr>
              <a:buNone/>
            </a:pPr>
            <a:r>
              <a:rPr lang="en-US" altLang="ko-KR" sz="2000" dirty="0">
                <a:hlinkClick r:id="rId2"/>
              </a:rPr>
              <a:t>https://my-</a:t>
            </a:r>
            <a:r>
              <a:rPr lang="en-US" altLang="ko-KR" sz="2000" dirty="0" err="1">
                <a:hlinkClick r:id="rId2"/>
              </a:rPr>
              <a:t>erp</a:t>
            </a:r>
            <a:r>
              <a:rPr lang="en-US" altLang="ko-KR" sz="2000" dirty="0">
                <a:hlinkClick r:id="rId2"/>
              </a:rPr>
              <a:t>-</a:t>
            </a:r>
            <a:r>
              <a:rPr lang="en-US" altLang="ko-KR" sz="2000" dirty="0" err="1">
                <a:hlinkClick r:id="rId2"/>
              </a:rPr>
              <a:t>66zbzaffpenjtjjf2kengo.streamlit.app</a:t>
            </a:r>
            <a:r>
              <a:rPr lang="en-US" altLang="ko-KR" sz="2000" dirty="0">
                <a:hlinkClick r:id="rId2"/>
              </a:rPr>
              <a:t>/</a:t>
            </a:r>
            <a:endParaRPr lang="en-US" altLang="ko-KR" sz="2000" dirty="0"/>
          </a:p>
          <a:p>
            <a:pPr>
              <a:buNone/>
            </a:pPr>
            <a:r>
              <a:rPr lang="en-US" altLang="ko-KR" sz="2000" dirty="0"/>
              <a:t>ID : admin / PW : admin</a:t>
            </a:r>
          </a:p>
          <a:p>
            <a:pPr>
              <a:buNone/>
            </a:pPr>
            <a:r>
              <a:rPr lang="ko-KR" altLang="en-US" sz="2000" dirty="0"/>
              <a:t>바탕화면</a:t>
            </a:r>
            <a:r>
              <a:rPr lang="en-US" altLang="ko-KR" sz="2000" dirty="0"/>
              <a:t>-my </a:t>
            </a:r>
            <a:r>
              <a:rPr lang="en-US" altLang="ko-KR" sz="2000" dirty="0" err="1"/>
              <a:t>erp</a:t>
            </a:r>
            <a:r>
              <a:rPr lang="en-US" altLang="ko-KR" sz="2000" dirty="0"/>
              <a:t> </a:t>
            </a:r>
            <a:r>
              <a:rPr lang="ko-KR" altLang="en-US" sz="2000" dirty="0"/>
              <a:t>폴더 내 백업용 코드</a:t>
            </a:r>
            <a:r>
              <a:rPr lang="en-US" altLang="ko-KR" sz="2000" dirty="0"/>
              <a:t>, </a:t>
            </a:r>
            <a:r>
              <a:rPr lang="ko-KR" altLang="en-US" sz="2000" dirty="0"/>
              <a:t>각종 아이디 메모 참고</a:t>
            </a:r>
            <a:endParaRPr lang="en-US" altLang="ko-KR" sz="2000" dirty="0"/>
          </a:p>
          <a:p>
            <a:pPr>
              <a:buNone/>
            </a:pPr>
            <a:endParaRPr lang="en-US" altLang="ko-KR" sz="2800" dirty="0"/>
          </a:p>
          <a:p>
            <a:pPr>
              <a:buNone/>
            </a:pPr>
            <a:r>
              <a:rPr lang="ko-KR" altLang="en-US" sz="2800" b="1" dirty="0"/>
              <a:t>📌 목차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시스템 접속 및 로그인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재고 </a:t>
            </a:r>
            <a:r>
              <a:rPr lang="ko-KR" altLang="en-US" dirty="0" err="1">
                <a:solidFill>
                  <a:srgbClr val="0070C0"/>
                </a:solidFill>
              </a:rPr>
              <a:t>현황판</a:t>
            </a:r>
            <a:r>
              <a:rPr lang="ko-KR" altLang="en-US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70C0"/>
                </a:solidFill>
              </a:rPr>
              <a:t>(</a:t>
            </a:r>
            <a:r>
              <a:rPr lang="ko-KR" altLang="en-US" dirty="0">
                <a:solidFill>
                  <a:srgbClr val="0070C0"/>
                </a:solidFill>
              </a:rPr>
              <a:t>조회 및 명세서 출력</a:t>
            </a:r>
            <a:r>
              <a:rPr lang="en-US" altLang="ko-KR" dirty="0">
                <a:solidFill>
                  <a:srgbClr val="0070C0"/>
                </a:solidFill>
              </a:rPr>
              <a:t>)</a:t>
            </a:r>
            <a:endParaRPr lang="ko-KR" altLang="en-US" dirty="0">
              <a:solidFill>
                <a:srgbClr val="0070C0"/>
              </a:solidFill>
            </a:endParaRP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자재 입출고 등록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품목 관리 </a:t>
            </a:r>
            <a:r>
              <a:rPr lang="en-US" altLang="ko-KR" dirty="0">
                <a:solidFill>
                  <a:srgbClr val="0070C0"/>
                </a:solidFill>
              </a:rPr>
              <a:t>(</a:t>
            </a:r>
            <a:r>
              <a:rPr lang="ko-KR" altLang="en-US" dirty="0">
                <a:solidFill>
                  <a:srgbClr val="0070C0"/>
                </a:solidFill>
              </a:rPr>
              <a:t>신규 등록 및 수정</a:t>
            </a:r>
            <a:r>
              <a:rPr lang="en-US" altLang="ko-KR" dirty="0">
                <a:solidFill>
                  <a:srgbClr val="0070C0"/>
                </a:solidFill>
              </a:rPr>
              <a:t>)</a:t>
            </a:r>
            <a:endParaRPr lang="ko-KR" altLang="en-US" dirty="0">
              <a:solidFill>
                <a:srgbClr val="0070C0"/>
              </a:solidFill>
            </a:endParaRP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입출고 내역 및 소진 추이 조회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환율 설정 및 사용자 관리 </a:t>
            </a:r>
            <a:r>
              <a:rPr lang="en-US" altLang="ko-KR" dirty="0">
                <a:solidFill>
                  <a:srgbClr val="0070C0"/>
                </a:solidFill>
              </a:rPr>
              <a:t>(</a:t>
            </a:r>
            <a:r>
              <a:rPr lang="ko-KR" altLang="en-US" dirty="0">
                <a:solidFill>
                  <a:srgbClr val="0070C0"/>
                </a:solidFill>
              </a:rPr>
              <a:t>관리자 전용</a:t>
            </a:r>
            <a:r>
              <a:rPr lang="en-US" altLang="ko-KR" dirty="0">
                <a:solidFill>
                  <a:srgbClr val="0070C0"/>
                </a:solidFill>
              </a:rPr>
              <a:t>)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>
                <a:solidFill>
                  <a:srgbClr val="0070C0"/>
                </a:solidFill>
              </a:rPr>
              <a:t> 시스템 기술 스택 구조 및 유지보수 가이드</a:t>
            </a:r>
            <a:r>
              <a:rPr lang="en-US" altLang="ko-KR" dirty="0">
                <a:solidFill>
                  <a:srgbClr val="0070C0"/>
                </a:solidFill>
              </a:rPr>
              <a:t>(</a:t>
            </a:r>
            <a:r>
              <a:rPr lang="ko-KR" altLang="en-US" dirty="0">
                <a:solidFill>
                  <a:srgbClr val="0070C0"/>
                </a:solidFill>
              </a:rPr>
              <a:t>담당자 전용</a:t>
            </a:r>
            <a:r>
              <a:rPr lang="en-US" altLang="ko-KR" dirty="0">
                <a:solidFill>
                  <a:srgbClr val="0070C0"/>
                </a:solidFill>
              </a:rPr>
              <a:t>)</a:t>
            </a:r>
            <a:endParaRPr lang="ko-KR" alt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794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23C95-EFAD-EB4A-21C9-EC1297BD3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25C6BC6-4958-DC7D-CAD2-A672AF4F9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3415"/>
            <a:ext cx="9144000" cy="4871169"/>
          </a:xfrm>
          <a:prstGeom prst="rect">
            <a:avLst/>
          </a:prstGeom>
        </p:spPr>
      </p:pic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7214CDBF-759B-1C60-9D0E-210F1944C295}"/>
              </a:ext>
            </a:extLst>
          </p:cNvPr>
          <p:cNvSpPr/>
          <p:nvPr/>
        </p:nvSpPr>
        <p:spPr>
          <a:xfrm>
            <a:off x="5728447" y="968189"/>
            <a:ext cx="3334871" cy="950258"/>
          </a:xfrm>
          <a:prstGeom prst="wedgeRectCallout">
            <a:avLst>
              <a:gd name="adj1" fmla="val -41753"/>
              <a:gd name="adj2" fmla="val 88915"/>
            </a:avLst>
          </a:prstGeom>
          <a:solidFill>
            <a:srgbClr val="99FF99"/>
          </a:solidFill>
          <a:ln>
            <a:solidFill>
              <a:srgbClr val="99FF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아이디와 비밀번호를 입력하여 로그인 합니다</a:t>
            </a:r>
            <a:r>
              <a:rPr lang="en-US" altLang="ko-KR" sz="1400" dirty="0">
                <a:solidFill>
                  <a:schemeClr val="tx1"/>
                </a:solidFill>
              </a:rPr>
              <a:t>. </a:t>
            </a:r>
            <a:r>
              <a:rPr lang="ko-KR" altLang="en-US" sz="1400" dirty="0">
                <a:solidFill>
                  <a:schemeClr val="tx1"/>
                </a:solidFill>
              </a:rPr>
              <a:t>아이디와 비밀번호는 개인의 사번을 각각 입력합니다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게스트계정은 </a:t>
            </a:r>
            <a:r>
              <a:rPr lang="en-US" altLang="ko-KR" sz="1400" dirty="0">
                <a:solidFill>
                  <a:schemeClr val="tx1"/>
                </a:solidFill>
              </a:rPr>
              <a:t>"12345 / 12345”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말풍선: 사각형 6">
            <a:extLst>
              <a:ext uri="{FF2B5EF4-FFF2-40B4-BE49-F238E27FC236}">
                <a16:creationId xmlns:a16="http://schemas.microsoft.com/office/drawing/2014/main" id="{9154AD24-9164-5406-116D-2B92073A15ED}"/>
              </a:ext>
            </a:extLst>
          </p:cNvPr>
          <p:cNvSpPr/>
          <p:nvPr/>
        </p:nvSpPr>
        <p:spPr>
          <a:xfrm>
            <a:off x="5728446" y="3657600"/>
            <a:ext cx="3334871" cy="950258"/>
          </a:xfrm>
          <a:prstGeom prst="wedgeRectCallout">
            <a:avLst>
              <a:gd name="adj1" fmla="val -41753"/>
              <a:gd name="adj2" fmla="val 88915"/>
            </a:avLst>
          </a:prstGeom>
          <a:solidFill>
            <a:srgbClr val="99FF99"/>
          </a:solidFill>
          <a:ln>
            <a:solidFill>
              <a:srgbClr val="99FF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매뉴얼을 다운로드 하거나</a:t>
            </a:r>
            <a:r>
              <a:rPr lang="en-US" altLang="ko-KR" sz="14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웹에서 바로 확인할 수 있습니다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4254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E1576-C908-B02C-A13E-40D07510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C8B9E64-BD82-287D-5094-11091B4B8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11372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E4B3FA-C748-2FD9-C066-B9997323AC9B}"/>
              </a:ext>
            </a:extLst>
          </p:cNvPr>
          <p:cNvSpPr txBox="1"/>
          <p:nvPr/>
        </p:nvSpPr>
        <p:spPr>
          <a:xfrm>
            <a:off x="1" y="1137268"/>
            <a:ext cx="9144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/>
              <a:t>2. </a:t>
            </a:r>
            <a:r>
              <a:rPr lang="ko-KR" altLang="en-US" sz="2000" b="1" dirty="0"/>
              <a:t>재고 </a:t>
            </a:r>
            <a:r>
              <a:rPr lang="ko-KR" altLang="en-US" sz="2000" b="1" dirty="0" err="1"/>
              <a:t>현황판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조회 및 명세서 출력</a:t>
            </a:r>
            <a:r>
              <a:rPr lang="en-US" altLang="ko-KR" sz="2000" b="1" dirty="0"/>
              <a:t>)</a:t>
            </a:r>
          </a:p>
          <a:p>
            <a:pPr>
              <a:buNone/>
            </a:pPr>
            <a:endParaRPr lang="en-US" altLang="ko-KR" sz="2000" b="1" dirty="0"/>
          </a:p>
          <a:p>
            <a:pPr>
              <a:buNone/>
            </a:pPr>
            <a:r>
              <a:rPr lang="ko-KR" altLang="en-US" sz="2000" dirty="0"/>
              <a:t>센터에 보유 중인 전체 자재의 실시간 재고량과 자산 금액을 확인할 수 있습니다</a:t>
            </a:r>
            <a:r>
              <a:rPr lang="en-US" altLang="ko-KR" sz="2000" dirty="0"/>
              <a:t>.</a:t>
            </a:r>
          </a:p>
          <a:p>
            <a:pPr>
              <a:buNone/>
            </a:pPr>
            <a:endParaRPr lang="en-US" altLang="ko-KR" sz="2000" dirty="0"/>
          </a:p>
          <a:p>
            <a:pPr>
              <a:buNone/>
            </a:pPr>
            <a:r>
              <a:rPr lang="ko-KR" altLang="en-US" sz="2000" b="1" dirty="0"/>
              <a:t>① 통합 검색 및 필터링</a:t>
            </a:r>
            <a:endParaRPr lang="en-US" altLang="ko-KR" sz="2000" b="1" dirty="0"/>
          </a:p>
          <a:p>
            <a:pPr>
              <a:buNone/>
            </a:pPr>
            <a:endParaRPr lang="ko-KR" altLang="en-US" sz="2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000" b="1" dirty="0"/>
              <a:t>통합 검색</a:t>
            </a:r>
            <a:r>
              <a:rPr lang="en-US" altLang="ko-KR" sz="2000" b="1" dirty="0"/>
              <a:t>:</a:t>
            </a:r>
            <a:r>
              <a:rPr lang="ko-KR" altLang="en-US" sz="2000" dirty="0"/>
              <a:t> 검색창에 </a:t>
            </a:r>
            <a:r>
              <a:rPr lang="ko-KR" altLang="en-US" sz="2000" b="1" dirty="0">
                <a:highlight>
                  <a:srgbClr val="CCFF33"/>
                </a:highlight>
              </a:rPr>
              <a:t>품목코드</a:t>
            </a:r>
            <a:r>
              <a:rPr lang="en-US" altLang="ko-KR" sz="2000" b="1" dirty="0">
                <a:highlight>
                  <a:srgbClr val="CCFF33"/>
                </a:highlight>
              </a:rPr>
              <a:t>, </a:t>
            </a:r>
            <a:r>
              <a:rPr lang="ko-KR" altLang="en-US" sz="2000" b="1" dirty="0">
                <a:highlight>
                  <a:srgbClr val="CCFF33"/>
                </a:highlight>
              </a:rPr>
              <a:t>품명</a:t>
            </a:r>
            <a:r>
              <a:rPr lang="en-US" altLang="ko-KR" sz="2000" b="1" dirty="0">
                <a:highlight>
                  <a:srgbClr val="CCFF33"/>
                </a:highlight>
              </a:rPr>
              <a:t>, </a:t>
            </a:r>
            <a:r>
              <a:rPr lang="ko-KR" altLang="en-US" sz="2000" b="1" dirty="0">
                <a:highlight>
                  <a:srgbClr val="CCFF33"/>
                </a:highlight>
              </a:rPr>
              <a:t>상세번호</a:t>
            </a:r>
            <a:r>
              <a:rPr lang="en-US" altLang="ko-KR" sz="2000" b="1" dirty="0">
                <a:highlight>
                  <a:srgbClr val="CCFF33"/>
                </a:highlight>
              </a:rPr>
              <a:t>, </a:t>
            </a:r>
            <a:r>
              <a:rPr lang="ko-KR" altLang="en-US" sz="2000" b="1" dirty="0">
                <a:highlight>
                  <a:srgbClr val="CCFF33"/>
                </a:highlight>
              </a:rPr>
              <a:t>규격</a:t>
            </a:r>
            <a:r>
              <a:rPr lang="en-US" altLang="ko-KR" sz="2000" b="1" dirty="0">
                <a:highlight>
                  <a:srgbClr val="CCFF33"/>
                </a:highlight>
              </a:rPr>
              <a:t>/</a:t>
            </a:r>
            <a:r>
              <a:rPr lang="ko-KR" altLang="en-US" sz="2000" b="1" dirty="0">
                <a:highlight>
                  <a:srgbClr val="CCFF33"/>
                </a:highlight>
              </a:rPr>
              <a:t>모델</a:t>
            </a:r>
            <a:r>
              <a:rPr lang="en-US" altLang="ko-KR" sz="2000" b="1" dirty="0">
                <a:highlight>
                  <a:srgbClr val="CCFF33"/>
                </a:highlight>
              </a:rPr>
              <a:t>, </a:t>
            </a:r>
            <a:r>
              <a:rPr lang="ko-KR" altLang="en-US" sz="2000" b="1" dirty="0">
                <a:highlight>
                  <a:srgbClr val="CCFF33"/>
                </a:highlight>
              </a:rPr>
              <a:t>비고</a:t>
            </a:r>
            <a:r>
              <a:rPr lang="ko-KR" altLang="en-US" sz="2000" dirty="0">
                <a:highlight>
                  <a:srgbClr val="CCFF33"/>
                </a:highlight>
              </a:rPr>
              <a:t> </a:t>
            </a:r>
            <a:r>
              <a:rPr lang="ko-KR" altLang="en-US" sz="2000" dirty="0"/>
              <a:t>등을 입력하면 특수문자</a:t>
            </a:r>
            <a:r>
              <a:rPr lang="en-US" altLang="ko-KR" sz="2000" dirty="0"/>
              <a:t>/</a:t>
            </a:r>
            <a:r>
              <a:rPr lang="ko-KR" altLang="en-US" sz="2000" dirty="0"/>
              <a:t>괄호 구분 없이 즉시 조회됩니다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000" b="1" dirty="0"/>
              <a:t>상세 필터</a:t>
            </a:r>
            <a:r>
              <a:rPr lang="en-US" altLang="ko-KR" sz="2000" b="1" dirty="0"/>
              <a:t>:</a:t>
            </a:r>
            <a:r>
              <a:rPr lang="ko-KR" altLang="en-US" sz="2000" dirty="0"/>
              <a:t> 입고일</a:t>
            </a:r>
            <a:r>
              <a:rPr lang="en-US" altLang="ko-KR" sz="2000" dirty="0"/>
              <a:t>, </a:t>
            </a:r>
            <a:r>
              <a:rPr lang="ko-KR" altLang="en-US" sz="2000" dirty="0"/>
              <a:t>재고 수량 범주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기기명</a:t>
            </a:r>
            <a:r>
              <a:rPr lang="en-US" altLang="ko-KR" sz="2000" dirty="0"/>
              <a:t>, Maker, </a:t>
            </a:r>
            <a:r>
              <a:rPr lang="ko-KR" altLang="en-US" sz="2000" dirty="0"/>
              <a:t>대분류별로 원하는 조건만 선별해 볼 수 있습니다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1783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20C0C-E5DC-B81E-740E-26198D3E6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474ED34-618C-1E14-3F67-5B6247FB7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9874"/>
            <a:ext cx="9144000" cy="5178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143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04227-3CE8-6568-87E1-50AD4191A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293AA68-67B6-181E-B875-E6C698531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144001" cy="11372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B90CC01-59FF-AD05-3B74-CC5754D8F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377385"/>
            <a:ext cx="9144001" cy="12701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D2305C-B018-FFD2-BE0B-DB3BC41AD635}"/>
              </a:ext>
            </a:extLst>
          </p:cNvPr>
          <p:cNvSpPr txBox="1"/>
          <p:nvPr/>
        </p:nvSpPr>
        <p:spPr>
          <a:xfrm>
            <a:off x="0" y="2887682"/>
            <a:ext cx="914400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>
                <a:highlight>
                  <a:srgbClr val="CCFF33"/>
                </a:highlight>
              </a:rPr>
              <a:t>품목코드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품목코드는 각 품목에 부여된 </a:t>
            </a:r>
            <a:r>
              <a:rPr lang="ko-KR" altLang="en-US" dirty="0">
                <a:highlight>
                  <a:srgbClr val="CCFF33"/>
                </a:highlight>
              </a:rPr>
              <a:t>개별 </a:t>
            </a:r>
            <a:r>
              <a:rPr lang="en-US" altLang="ko-KR" dirty="0">
                <a:highlight>
                  <a:srgbClr val="CCFF33"/>
                </a:highlight>
              </a:rPr>
              <a:t>ID 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중복이 없는 데이터이기에</a:t>
            </a:r>
            <a:r>
              <a:rPr lang="en-US" altLang="ko-KR" dirty="0"/>
              <a:t>, </a:t>
            </a:r>
            <a:r>
              <a:rPr lang="ko-KR" altLang="en-US" dirty="0" err="1"/>
              <a:t>검색값이</a:t>
            </a:r>
            <a:r>
              <a:rPr lang="ko-KR" altLang="en-US" dirty="0"/>
              <a:t> </a:t>
            </a:r>
            <a:r>
              <a:rPr lang="ko-KR" altLang="en-US" dirty="0">
                <a:highlight>
                  <a:srgbClr val="CCFF33"/>
                </a:highlight>
              </a:rPr>
              <a:t>가장 정확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r>
              <a:rPr lang="ko-KR" altLang="en-US" dirty="0"/>
              <a:t>트러스트에 전달한 자료에도 품목코드가 부여된 자료를 전달하여</a:t>
            </a:r>
            <a:r>
              <a:rPr lang="en-US" altLang="ko-KR" dirty="0"/>
              <a:t>, </a:t>
            </a:r>
            <a:r>
              <a:rPr lang="ko-KR" altLang="en-US" dirty="0"/>
              <a:t>추후 반출요청시 품목코드를 활용하여 품목을 찾으시는 것을 </a:t>
            </a:r>
            <a:r>
              <a:rPr lang="ko-KR" altLang="en-US" dirty="0" err="1"/>
              <a:t>추천드립니다</a:t>
            </a:r>
            <a:r>
              <a:rPr lang="en-US" altLang="ko-KR" dirty="0"/>
              <a:t>. </a:t>
            </a:r>
            <a:r>
              <a:rPr lang="ko-KR" altLang="en-US" dirty="0" err="1"/>
              <a:t>검색시</a:t>
            </a:r>
            <a:r>
              <a:rPr lang="ko-KR" altLang="en-US" dirty="0"/>
              <a:t> </a:t>
            </a:r>
            <a:r>
              <a:rPr lang="ko-KR" altLang="en-US" dirty="0">
                <a:highlight>
                  <a:srgbClr val="CCFF33"/>
                </a:highlight>
              </a:rPr>
              <a:t>숫자 </a:t>
            </a:r>
            <a:r>
              <a:rPr lang="en-US" altLang="ko-KR" dirty="0">
                <a:highlight>
                  <a:srgbClr val="CCFF33"/>
                </a:highlight>
              </a:rPr>
              <a:t>5</a:t>
            </a:r>
            <a:r>
              <a:rPr lang="ko-KR" altLang="en-US" dirty="0">
                <a:highlight>
                  <a:srgbClr val="CCFF33"/>
                </a:highlight>
              </a:rPr>
              <a:t>자리 전부 입력</a:t>
            </a:r>
            <a:r>
              <a:rPr lang="ko-KR" altLang="en-US" dirty="0"/>
              <a:t>하여 검색하는 것이 좋습니다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</a:t>
            </a:r>
            <a:r>
              <a:rPr lang="ko-KR" altLang="en-US" b="1" dirty="0"/>
              <a:t>품명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품목의 명칭입니다</a:t>
            </a:r>
            <a:r>
              <a:rPr lang="en-US" altLang="ko-KR" dirty="0"/>
              <a:t>. </a:t>
            </a:r>
            <a:r>
              <a:rPr lang="ko-KR" altLang="en-US" dirty="0" err="1"/>
              <a:t>검색시</a:t>
            </a:r>
            <a:r>
              <a:rPr lang="ko-KR" altLang="en-US" dirty="0"/>
              <a:t> 대</a:t>
            </a:r>
            <a:r>
              <a:rPr lang="en-US" altLang="ko-KR" dirty="0">
                <a:latin typeface="굴림" panose="020B0600000101010101" pitchFamily="50" charset="-127"/>
                <a:ea typeface="굴림" panose="020B0600000101010101" pitchFamily="50" charset="-127"/>
              </a:rPr>
              <a:t>·</a:t>
            </a:r>
            <a:r>
              <a:rPr lang="ko-KR" altLang="en-US" dirty="0"/>
              <a:t>소문자는 구분하지 않습니다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>
                <a:highlight>
                  <a:srgbClr val="CCFF33"/>
                </a:highlight>
              </a:rPr>
              <a:t>상세번호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제조사측에서</a:t>
            </a:r>
            <a:r>
              <a:rPr lang="ko-KR" altLang="en-US" dirty="0"/>
              <a:t> 품목에 부여한 고유번호 입니다</a:t>
            </a:r>
            <a:r>
              <a:rPr lang="en-US" altLang="ko-KR" dirty="0"/>
              <a:t>. </a:t>
            </a:r>
            <a:r>
              <a:rPr lang="ko-KR" altLang="en-US" dirty="0"/>
              <a:t>같은 제품일지라도 제조국에 따라 상세번호가 다른 등 변수가 있을 수 있습니다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>
                <a:highlight>
                  <a:srgbClr val="CCFF33"/>
                </a:highlight>
              </a:rPr>
              <a:t>규격</a:t>
            </a:r>
            <a:r>
              <a:rPr lang="en-US" altLang="ko-KR" b="1" dirty="0">
                <a:highlight>
                  <a:srgbClr val="CCFF33"/>
                </a:highlight>
              </a:rPr>
              <a:t>/</a:t>
            </a:r>
            <a:r>
              <a:rPr lang="ko-KR" altLang="en-US" b="1" dirty="0">
                <a:highlight>
                  <a:srgbClr val="CCFF33"/>
                </a:highlight>
              </a:rPr>
              <a:t>모델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상품별 규격 혹은 모델명을 입력한 데이터 입니다</a:t>
            </a:r>
            <a:r>
              <a:rPr lang="en-US" altLang="ko-KR" dirty="0"/>
              <a:t>. </a:t>
            </a:r>
            <a:r>
              <a:rPr lang="ko-KR" altLang="en-US" dirty="0" err="1"/>
              <a:t>검색시</a:t>
            </a:r>
            <a:r>
              <a:rPr lang="ko-KR" altLang="en-US" dirty="0"/>
              <a:t> 특수문자로 인해 정확한 검색결과를 얻지 못할 수 있습니다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/>
              <a:t>구분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상품 </a:t>
            </a:r>
            <a:r>
              <a:rPr lang="ko-KR" altLang="en-US" dirty="0" err="1"/>
              <a:t>입고시</a:t>
            </a:r>
            <a:r>
              <a:rPr lang="ko-KR" altLang="en-US" dirty="0"/>
              <a:t> 구분을 위해 부여하는 임시 번호 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9066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9142-B431-AE8B-D3BB-146F2424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2CAF83A-3FA1-2D67-FBB2-98BF8A0F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144001" cy="11372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5557398-352F-740D-A0E1-A39ACA416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377385"/>
            <a:ext cx="9144001" cy="12701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DC3495-95F3-6EBD-BDAE-B3C2E5FAA957}"/>
              </a:ext>
            </a:extLst>
          </p:cNvPr>
          <p:cNvSpPr txBox="1"/>
          <p:nvPr/>
        </p:nvSpPr>
        <p:spPr>
          <a:xfrm>
            <a:off x="0" y="2887682"/>
            <a:ext cx="91440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/>
              <a:t>분류체계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상품을 보관중인 </a:t>
            </a:r>
            <a:r>
              <a:rPr lang="ko-KR" altLang="en-US" dirty="0" err="1"/>
              <a:t>렉</a:t>
            </a:r>
            <a:r>
              <a:rPr lang="ko-KR" altLang="en-US" dirty="0"/>
              <a:t> 선반의 위치 입니다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 err="1"/>
              <a:t>기기명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품목이 설치되는 자동화 설비의 명칭 입니다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en-US" altLang="ko-KR" b="1" dirty="0"/>
              <a:t>Maker</a:t>
            </a:r>
            <a:r>
              <a:rPr lang="en-US" altLang="ko-KR" dirty="0"/>
              <a:t> : </a:t>
            </a:r>
            <a:r>
              <a:rPr lang="ko-KR" altLang="en-US" dirty="0"/>
              <a:t>품목을 제조 혹은 유통하는 회사의 명칭 입니다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/>
              <a:t>원화환산액</a:t>
            </a:r>
            <a:r>
              <a:rPr lang="ko-KR" altLang="en-US" dirty="0"/>
              <a:t> </a:t>
            </a:r>
            <a:r>
              <a:rPr lang="en-US" altLang="ko-KR" dirty="0"/>
              <a:t>:  </a:t>
            </a:r>
            <a:r>
              <a:rPr lang="ko-KR" altLang="en-US" dirty="0"/>
              <a:t>입고되는 품목이 수입되는 경우</a:t>
            </a:r>
            <a:r>
              <a:rPr lang="en-US" altLang="ko-KR" dirty="0"/>
              <a:t>, </a:t>
            </a:r>
            <a:r>
              <a:rPr lang="ko-KR" altLang="en-US" dirty="0"/>
              <a:t>외화로 결제된 품목의 단가를 환율을 적용하여 원화로 환산한 금액을 의미합니다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b="1" dirty="0"/>
              <a:t>재고금액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품목의 수량 </a:t>
            </a:r>
            <a:r>
              <a:rPr lang="en-US" altLang="ko-KR" dirty="0"/>
              <a:t>X </a:t>
            </a:r>
            <a:r>
              <a:rPr lang="ko-KR" altLang="en-US" dirty="0"/>
              <a:t>원화환산액 의 금액입니다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1205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B2751-1074-5A3C-610F-4C8D6058B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D5F4AD-717D-6B13-3F68-8B047D4EE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8906"/>
            <a:ext cx="9144000" cy="554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59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D1077-65A4-3628-32FB-ABF923739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BCB6943B-E9E0-44B2-9FAC-E4F0E71F3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144001" cy="11372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47576-CE20-7B8D-C23F-C27ED80D5E04}"/>
              </a:ext>
            </a:extLst>
          </p:cNvPr>
          <p:cNvSpPr txBox="1"/>
          <p:nvPr/>
        </p:nvSpPr>
        <p:spPr>
          <a:xfrm>
            <a:off x="0" y="1603533"/>
            <a:ext cx="914400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② 자재품목명세서 </a:t>
            </a:r>
            <a:r>
              <a:rPr lang="en-US" altLang="ko-KR" b="1" dirty="0"/>
              <a:t>(</a:t>
            </a:r>
            <a:r>
              <a:rPr lang="en-US" altLang="ko-KR" b="1" dirty="0" err="1"/>
              <a:t>A4</a:t>
            </a:r>
            <a:r>
              <a:rPr lang="en-US" altLang="ko-KR" b="1" dirty="0"/>
              <a:t> </a:t>
            </a:r>
            <a:r>
              <a:rPr lang="ko-KR" altLang="en-US" b="1" dirty="0"/>
              <a:t>카드</a:t>
            </a:r>
            <a:r>
              <a:rPr lang="en-US" altLang="ko-KR" b="1" dirty="0"/>
              <a:t>) </a:t>
            </a:r>
            <a:r>
              <a:rPr lang="ko-KR" altLang="en-US" b="1" dirty="0"/>
              <a:t>조회 및 인쇄</a:t>
            </a:r>
            <a:endParaRPr lang="en-US" altLang="ko-KR" b="1" dirty="0"/>
          </a:p>
          <a:p>
            <a:pPr>
              <a:buNone/>
            </a:pPr>
            <a:endParaRPr lang="ko-KR" alt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목록에서 특정 품목을 </a:t>
            </a:r>
            <a:r>
              <a:rPr lang="ko-KR" altLang="en-US" dirty="0">
                <a:highlight>
                  <a:srgbClr val="CCFF33"/>
                </a:highlight>
              </a:rPr>
              <a:t>클릭</a:t>
            </a:r>
            <a:r>
              <a:rPr lang="ko-KR" altLang="en-US" dirty="0"/>
              <a:t>하면 하단에 </a:t>
            </a:r>
            <a:r>
              <a:rPr lang="ko-KR" altLang="en-US" b="1" dirty="0"/>
              <a:t>자재품목명세서 카드</a:t>
            </a:r>
            <a:r>
              <a:rPr lang="ko-KR" altLang="en-US" dirty="0"/>
              <a:t>가 생성됩니다</a:t>
            </a:r>
            <a:r>
              <a:rPr lang="en-US" altLang="ko-KR" dirty="0"/>
              <a:t>.</a:t>
            </a:r>
            <a:endParaRPr lang="en-US" altLang="ko-KR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 기간 필터</a:t>
            </a:r>
            <a:r>
              <a:rPr lang="en-US" altLang="ko-KR" b="1" dirty="0"/>
              <a:t>(3</a:t>
            </a:r>
            <a:r>
              <a:rPr lang="ko-KR" altLang="en-US" b="1" dirty="0"/>
              <a:t>개월</a:t>
            </a:r>
            <a:r>
              <a:rPr lang="en-US" altLang="ko-KR" b="1" dirty="0"/>
              <a:t>, 6</a:t>
            </a:r>
            <a:r>
              <a:rPr lang="ko-KR" altLang="en-US" b="1" dirty="0"/>
              <a:t>개월</a:t>
            </a:r>
            <a:r>
              <a:rPr lang="en-US" altLang="ko-KR" b="1" dirty="0"/>
              <a:t>, 1</a:t>
            </a:r>
            <a:r>
              <a:rPr lang="ko-KR" altLang="en-US" b="1" dirty="0"/>
              <a:t>년 등</a:t>
            </a:r>
            <a:r>
              <a:rPr lang="en-US" altLang="ko-KR" b="1" dirty="0"/>
              <a:t>):</a:t>
            </a:r>
            <a:r>
              <a:rPr lang="ko-KR" altLang="en-US" dirty="0"/>
              <a:t> 원하는 기간 동안의 입고</a:t>
            </a:r>
            <a:r>
              <a:rPr lang="en-US" altLang="ko-KR" dirty="0"/>
              <a:t>/</a:t>
            </a:r>
            <a:r>
              <a:rPr lang="ko-KR" altLang="en-US" dirty="0"/>
              <a:t>출고 합계 수량 및 금액을 자동 계산합니다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 🖨️ 명세서 인쇄</a:t>
            </a:r>
            <a:r>
              <a:rPr lang="en-US" altLang="ko-KR" b="1" dirty="0"/>
              <a:t>/PDF </a:t>
            </a:r>
            <a:r>
              <a:rPr lang="ko-KR" altLang="en-US" b="1" dirty="0"/>
              <a:t>저장</a:t>
            </a:r>
            <a:r>
              <a:rPr lang="en-US" altLang="ko-KR" b="1" dirty="0"/>
              <a:t>:</a:t>
            </a:r>
            <a:r>
              <a:rPr lang="ko-KR" altLang="en-US" dirty="0"/>
              <a:t> 버튼을 누르면 </a:t>
            </a:r>
            <a:r>
              <a:rPr lang="en-US" altLang="ko-KR" dirty="0" err="1"/>
              <a:t>A4</a:t>
            </a:r>
            <a:r>
              <a:rPr lang="en-US" altLang="ko-KR" dirty="0"/>
              <a:t> </a:t>
            </a:r>
            <a:r>
              <a:rPr lang="ko-KR" altLang="en-US" dirty="0"/>
              <a:t>규격의 깔끔한 명세서 출력 창이 열립니다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>
              <a:buNone/>
            </a:pPr>
            <a:r>
              <a:rPr lang="ko-KR" altLang="en-US" b="1" dirty="0"/>
              <a:t>③ 전체 품목 엑셀 다운로드</a:t>
            </a:r>
            <a:endParaRPr lang="en-US" altLang="ko-KR" b="1" dirty="0"/>
          </a:p>
          <a:p>
            <a:pPr>
              <a:buNone/>
            </a:pPr>
            <a:endParaRPr lang="ko-KR" alt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DB</a:t>
            </a:r>
            <a:r>
              <a:rPr lang="ko-KR" altLang="en-US" dirty="0"/>
              <a:t>에 저장된 전체 품목 내역을 엑셀로 다운로드 합니다</a:t>
            </a:r>
            <a:r>
              <a:rPr lang="en-US" altLang="ko-KR" dirty="0"/>
              <a:t>. </a:t>
            </a:r>
            <a:r>
              <a:rPr lang="ko-KR" altLang="en-US" dirty="0"/>
              <a:t>재고조사시 자료로 활용할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52409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5D4F0-BB24-31E5-EE22-7AFBBC561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2F050295-962C-7828-BEDA-4BC19351B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16715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13EBFF-6ECA-1D57-476E-FC58642C035F}"/>
              </a:ext>
            </a:extLst>
          </p:cNvPr>
          <p:cNvSpPr txBox="1"/>
          <p:nvPr/>
        </p:nvSpPr>
        <p:spPr>
          <a:xfrm>
            <a:off x="-1" y="1767544"/>
            <a:ext cx="914400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3. </a:t>
            </a:r>
            <a:r>
              <a:rPr lang="ko-KR" altLang="en-US" b="1" dirty="0"/>
              <a:t>자재 입출고 등록</a:t>
            </a:r>
          </a:p>
          <a:p>
            <a:pPr>
              <a:buNone/>
            </a:pPr>
            <a:r>
              <a:rPr lang="en-US" altLang="ko-KR" dirty="0"/>
              <a:t>DB</a:t>
            </a:r>
            <a:r>
              <a:rPr lang="ko-KR" altLang="en-US" dirty="0"/>
              <a:t>에 저장되어 있는 자재의 입고 및 출고 처리를 진행합니다</a:t>
            </a:r>
            <a:r>
              <a:rPr lang="en-US" altLang="ko-KR" dirty="0"/>
              <a:t>. </a:t>
            </a:r>
            <a:r>
              <a:rPr lang="ko-KR" altLang="en-US" b="1" dirty="0">
                <a:highlight>
                  <a:srgbClr val="CCFF33"/>
                </a:highlight>
              </a:rPr>
              <a:t>품목코드</a:t>
            </a:r>
            <a:r>
              <a:rPr lang="ko-KR" altLang="en-US" dirty="0">
                <a:highlight>
                  <a:srgbClr val="CCFF33"/>
                </a:highlight>
              </a:rPr>
              <a:t>를 기준</a:t>
            </a:r>
            <a:r>
              <a:rPr lang="ko-KR" altLang="en-US" dirty="0"/>
              <a:t>으로 </a:t>
            </a:r>
            <a:r>
              <a:rPr lang="ko-KR" altLang="en-US" dirty="0" err="1"/>
              <a:t>등록하는것을</a:t>
            </a:r>
            <a:r>
              <a:rPr lang="ko-KR" altLang="en-US" dirty="0"/>
              <a:t> </a:t>
            </a:r>
            <a:r>
              <a:rPr lang="ko-KR" altLang="en-US" dirty="0" err="1"/>
              <a:t>추천드립니다</a:t>
            </a:r>
            <a:r>
              <a:rPr lang="en-US" altLang="ko-KR" dirty="0"/>
              <a:t>.</a:t>
            </a:r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ko-KR" altLang="en-US" b="1" dirty="0"/>
              <a:t>① 신규 입출고 등록</a:t>
            </a:r>
          </a:p>
          <a:p>
            <a:pPr marL="540000" indent="-540000">
              <a:buFont typeface="+mj-lt"/>
              <a:buAutoNum type="arabicParenR"/>
            </a:pPr>
            <a:r>
              <a:rPr lang="ko-KR" altLang="en-US" b="1" dirty="0"/>
              <a:t>대상 품목 검색</a:t>
            </a:r>
            <a:r>
              <a:rPr lang="en-US" altLang="ko-KR" b="1" dirty="0"/>
              <a:t>:</a:t>
            </a:r>
            <a:r>
              <a:rPr lang="ko-KR" altLang="en-US" dirty="0"/>
              <a:t> 상단 검색창에서 대상 품목을 선택합니다</a:t>
            </a:r>
            <a:r>
              <a:rPr lang="en-US" altLang="ko-KR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b="1" dirty="0"/>
              <a:t>   구분 선택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ko-KR" altLang="en-US" b="1" dirty="0">
                <a:highlight>
                  <a:srgbClr val="CCFF33"/>
                </a:highlight>
                <a:latin typeface="Courier New" panose="02070309020205020404" pitchFamily="49" charset="0"/>
              </a:rPr>
              <a:t>입고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ko-KR" altLang="en-US" b="1" dirty="0">
                <a:highlight>
                  <a:srgbClr val="CCFF33"/>
                </a:highlight>
                <a:latin typeface="Courier New" panose="02070309020205020404" pitchFamily="49" charset="0"/>
              </a:rPr>
              <a:t>출고</a:t>
            </a:r>
            <a:r>
              <a:rPr lang="en-US" altLang="ko-KR" dirty="0"/>
              <a:t> </a:t>
            </a:r>
            <a:r>
              <a:rPr lang="ko-KR" altLang="en-US" dirty="0"/>
              <a:t>버튼을 선택합니다</a:t>
            </a:r>
            <a:r>
              <a:rPr lang="en-US" altLang="ko-KR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b="1" dirty="0"/>
              <a:t>   정보 입력</a:t>
            </a:r>
            <a:r>
              <a:rPr lang="en-US" altLang="ko-KR" b="1" dirty="0"/>
              <a:t>:</a:t>
            </a:r>
            <a:r>
              <a:rPr lang="ko-KR" altLang="en-US" dirty="0"/>
              <a:t> 일자</a:t>
            </a:r>
            <a:r>
              <a:rPr lang="en-US" altLang="ko-KR" dirty="0"/>
              <a:t>, </a:t>
            </a:r>
            <a:r>
              <a:rPr lang="ko-KR" altLang="en-US" dirty="0"/>
              <a:t>수량</a:t>
            </a:r>
            <a:r>
              <a:rPr lang="en-US" altLang="ko-KR" dirty="0"/>
              <a:t>, </a:t>
            </a:r>
            <a:r>
              <a:rPr lang="ko-KR" altLang="en-US" dirty="0"/>
              <a:t>단가</a:t>
            </a:r>
            <a:r>
              <a:rPr lang="en-US" altLang="ko-KR" dirty="0"/>
              <a:t>, </a:t>
            </a:r>
            <a:r>
              <a:rPr lang="ko-KR" altLang="en-US" dirty="0"/>
              <a:t>담당자</a:t>
            </a:r>
            <a:r>
              <a:rPr lang="en-US" altLang="ko-KR" dirty="0"/>
              <a:t>, </a:t>
            </a:r>
            <a:r>
              <a:rPr lang="ko-KR" altLang="en-US" b="1" dirty="0" err="1"/>
              <a:t>요청자</a:t>
            </a:r>
            <a:r>
              <a:rPr lang="en-US" altLang="ko-KR" b="1" dirty="0"/>
              <a:t>(*</a:t>
            </a:r>
            <a:r>
              <a:rPr lang="ko-KR" altLang="en-US" b="1" dirty="0"/>
              <a:t>필수</a:t>
            </a:r>
            <a:r>
              <a:rPr lang="en-US" altLang="ko-KR" b="1" dirty="0"/>
              <a:t>)</a:t>
            </a:r>
            <a:r>
              <a:rPr lang="en-US" altLang="ko-KR" dirty="0"/>
              <a:t>, </a:t>
            </a:r>
            <a:r>
              <a:rPr lang="ko-KR" altLang="en-US" dirty="0"/>
              <a:t>비고를 입력합니다</a:t>
            </a:r>
            <a:r>
              <a:rPr lang="en-US" altLang="ko-KR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b="1" dirty="0"/>
              <a:t>   저장 및 최종 확인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ko-KR" altLang="en-US" dirty="0">
                <a:latin typeface="Courier New" panose="02070309020205020404" pitchFamily="49" charset="0"/>
              </a:rPr>
              <a:t>입출고 저장 실행</a:t>
            </a:r>
            <a:r>
              <a:rPr lang="ko-KR" altLang="en-US" dirty="0"/>
              <a:t> 버튼 클릭 후 나타나는 </a:t>
            </a:r>
            <a:r>
              <a:rPr lang="en-US" altLang="ko-KR" dirty="0"/>
              <a:t>Pop-up </a:t>
            </a:r>
            <a:r>
              <a:rPr lang="ko-KR" altLang="en-US" dirty="0"/>
              <a:t>창에서 내역을 확인하고 </a:t>
            </a:r>
            <a:r>
              <a:rPr lang="ko-KR" altLang="en-US" dirty="0">
                <a:latin typeface="Courier New" panose="02070309020205020404" pitchFamily="49" charset="0"/>
              </a:rPr>
              <a:t>최종 확인 및 실행</a:t>
            </a:r>
            <a:r>
              <a:rPr lang="ko-KR" altLang="en-US" dirty="0"/>
              <a:t>을 누릅니다</a:t>
            </a:r>
            <a:r>
              <a:rPr lang="en-US" altLang="ko-KR" dirty="0"/>
              <a:t>.</a:t>
            </a:r>
          </a:p>
          <a:p>
            <a:pPr>
              <a:buFont typeface="+mj-lt"/>
              <a:buAutoNum type="arabicParenR"/>
            </a:pPr>
            <a:endParaRPr lang="en-US" altLang="ko-KR" dirty="0"/>
          </a:p>
          <a:p>
            <a:r>
              <a:rPr lang="en-US" altLang="ko-KR" dirty="0">
                <a:highlight>
                  <a:srgbClr val="CCFF33"/>
                </a:highlight>
              </a:rPr>
              <a:t>Tip.</a:t>
            </a:r>
            <a:r>
              <a:rPr lang="en-US" altLang="ko-KR" dirty="0"/>
              <a:t> </a:t>
            </a:r>
            <a:r>
              <a:rPr lang="ko-KR" altLang="en-US" dirty="0"/>
              <a:t>품목 선택 후 하단의 </a:t>
            </a:r>
            <a:r>
              <a:rPr lang="ko-KR" altLang="en-US" dirty="0">
                <a:highlight>
                  <a:srgbClr val="CCFF33"/>
                </a:highlight>
              </a:rPr>
              <a:t>명세서를 확인</a:t>
            </a:r>
            <a:r>
              <a:rPr lang="ko-KR" altLang="en-US" dirty="0"/>
              <a:t>하여</a:t>
            </a:r>
            <a:r>
              <a:rPr lang="en-US" altLang="ko-KR" dirty="0"/>
              <a:t>, </a:t>
            </a:r>
            <a:r>
              <a:rPr lang="ko-KR" altLang="en-US" dirty="0"/>
              <a:t>품목을 바르게 선택했는지 한번 더 확인하면 실수를 줄일 수 있습니다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5012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AFAD-9B3B-0E5B-2451-739CFB8D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8298697-E846-4CBD-A824-F53695FA2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583"/>
            <a:ext cx="9144000" cy="5262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59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A7021-969B-BA7B-7E27-9AC79CC6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5C56A77-47A7-76D7-31F8-F1EC5EA1D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3258"/>
            <a:ext cx="9144000" cy="541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11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A1337-82BD-E0EE-7C7B-BDC65B69F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C00998-7E9A-4327-B639-B34BDDE23B8F}"/>
              </a:ext>
            </a:extLst>
          </p:cNvPr>
          <p:cNvSpPr txBox="1"/>
          <p:nvPr/>
        </p:nvSpPr>
        <p:spPr>
          <a:xfrm>
            <a:off x="1" y="1963087"/>
            <a:ext cx="914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② 기존 내역 수정 및 삭제</a:t>
            </a:r>
            <a:endParaRPr lang="en-US" altLang="ko-KR" b="1" dirty="0"/>
          </a:p>
          <a:p>
            <a:pPr>
              <a:buNone/>
            </a:pPr>
            <a:endParaRPr lang="ko-KR" alt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Courier New" panose="02070309020205020404" pitchFamily="49" charset="0"/>
              </a:rPr>
              <a:t> 기존 입출고 내역 수정 및 삭제</a:t>
            </a:r>
            <a:r>
              <a:rPr lang="ko-KR" altLang="en-US" dirty="0"/>
              <a:t> 탭에서 날짜 범위와 키워드로 이전 입력 내역을 조회한 후</a:t>
            </a:r>
            <a:r>
              <a:rPr lang="en-US" altLang="ko-KR" dirty="0"/>
              <a:t>, </a:t>
            </a:r>
            <a:r>
              <a:rPr lang="ko-KR" altLang="en-US" dirty="0">
                <a:latin typeface="+mn-ea"/>
              </a:rPr>
              <a:t>수량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적용 단가 등 수정이나</a:t>
            </a:r>
            <a:r>
              <a:rPr lang="ko-KR" altLang="en-US" dirty="0"/>
              <a:t> 내역 삭제가 가능합니다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dirty="0"/>
              <a:t>Tip. </a:t>
            </a:r>
            <a:r>
              <a:rPr lang="ko-KR" altLang="en-US" dirty="0"/>
              <a:t>수정이 필요한 내역의 날짜</a:t>
            </a:r>
            <a:r>
              <a:rPr lang="en-US" altLang="ko-KR" dirty="0"/>
              <a:t>, </a:t>
            </a:r>
            <a:r>
              <a:rPr lang="ko-KR" altLang="en-US" dirty="0" err="1"/>
              <a:t>요청자</a:t>
            </a:r>
            <a:r>
              <a:rPr lang="en-US" altLang="ko-KR" dirty="0"/>
              <a:t>, </a:t>
            </a:r>
            <a:r>
              <a:rPr lang="ko-KR" altLang="en-US" dirty="0"/>
              <a:t>품목코드를 미리 파악하여 내역을 검색 및 선택하면 보다 정확한 수정이 가능합니다</a:t>
            </a:r>
            <a:r>
              <a:rPr lang="en-US" altLang="ko-KR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3898125-C6A9-93DB-C2FE-A604C1DDA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16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769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7C2AE-47AA-D089-6617-D7E7B75FC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89F72FE-DBF4-74D7-4055-6E97A3494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3763"/>
            <a:ext cx="9144000" cy="509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438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9BF7A-F43C-A79C-94F7-C773C1D03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D49B7D5-9D73-4417-0C3D-1D945F54F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475" y="0"/>
            <a:ext cx="9131779" cy="16674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7A7D58-213F-E966-122D-0967E7B1B3BB}"/>
              </a:ext>
            </a:extLst>
          </p:cNvPr>
          <p:cNvSpPr txBox="1"/>
          <p:nvPr/>
        </p:nvSpPr>
        <p:spPr>
          <a:xfrm>
            <a:off x="-10475" y="1723673"/>
            <a:ext cx="91457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✍️ 개별 직접 등록</a:t>
            </a:r>
            <a:r>
              <a:rPr lang="en-US" altLang="ko-KR" b="1" dirty="0"/>
              <a:t>:</a:t>
            </a:r>
            <a:r>
              <a:rPr lang="ko-KR" altLang="en-US" dirty="0"/>
              <a:t> 품목코드</a:t>
            </a:r>
            <a:r>
              <a:rPr lang="en-US" altLang="ko-KR" dirty="0"/>
              <a:t>, </a:t>
            </a:r>
            <a:r>
              <a:rPr lang="ko-KR" altLang="en-US" dirty="0"/>
              <a:t>품명</a:t>
            </a:r>
            <a:r>
              <a:rPr lang="en-US" altLang="ko-KR" dirty="0"/>
              <a:t>, </a:t>
            </a:r>
            <a:r>
              <a:rPr lang="ko-KR" altLang="en-US" dirty="0"/>
              <a:t>규격</a:t>
            </a:r>
            <a:r>
              <a:rPr lang="en-US" altLang="ko-KR" dirty="0"/>
              <a:t>, </a:t>
            </a:r>
            <a:r>
              <a:rPr lang="ko-KR" altLang="en-US" dirty="0"/>
              <a:t>분류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r>
              <a:rPr lang="en-US" altLang="ko-KR" dirty="0"/>
              <a:t>, </a:t>
            </a:r>
            <a:r>
              <a:rPr lang="ko-KR" altLang="en-US" dirty="0"/>
              <a:t>초기 재고 수량 등을 직접 입력하여 신규 등록합니다</a:t>
            </a:r>
            <a:r>
              <a:rPr lang="en-US" altLang="ko-KR" dirty="0"/>
              <a:t>. DB</a:t>
            </a:r>
            <a:r>
              <a:rPr lang="ko-KR" altLang="en-US" dirty="0"/>
              <a:t>에 등록되어 있지 않은 완전 신규 품목을 등록하는 기능입니다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A14C89-FE48-B298-A66F-7F978E116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475" y="2426242"/>
            <a:ext cx="9152730" cy="16295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43611F-470C-0610-759D-A8FF7369AC2C}"/>
              </a:ext>
            </a:extLst>
          </p:cNvPr>
          <p:cNvSpPr txBox="1"/>
          <p:nvPr/>
        </p:nvSpPr>
        <p:spPr>
          <a:xfrm>
            <a:off x="-10475" y="4112046"/>
            <a:ext cx="9152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✏️ 기존 품목 수정</a:t>
            </a:r>
            <a:r>
              <a:rPr lang="en-US" altLang="ko-KR" b="1" dirty="0"/>
              <a:t>:</a:t>
            </a:r>
            <a:r>
              <a:rPr lang="ko-KR" altLang="en-US" dirty="0"/>
              <a:t> 기존 자재의 품명</a:t>
            </a:r>
            <a:r>
              <a:rPr lang="en-US" altLang="ko-KR" dirty="0"/>
              <a:t>, </a:t>
            </a:r>
            <a:r>
              <a:rPr lang="ko-KR" altLang="en-US" dirty="0"/>
              <a:t>단가</a:t>
            </a:r>
            <a:r>
              <a:rPr lang="en-US" altLang="ko-KR" dirty="0"/>
              <a:t>, </a:t>
            </a:r>
            <a:r>
              <a:rPr lang="ko-KR" altLang="en-US" dirty="0"/>
              <a:t>비고 및 첨부 사진을 수정하거나 교체합니다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3C995B2-2AC6-F5AD-1958-BB7FA970E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475" y="4537616"/>
            <a:ext cx="9152730" cy="16178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5B8732-5AB5-7380-B55B-1EE0D8517B94}"/>
              </a:ext>
            </a:extLst>
          </p:cNvPr>
          <p:cNvSpPr txBox="1"/>
          <p:nvPr/>
        </p:nvSpPr>
        <p:spPr>
          <a:xfrm>
            <a:off x="-10475" y="6211669"/>
            <a:ext cx="9131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📂 기초 데이터 엑셀 일괄 등록</a:t>
            </a:r>
            <a:r>
              <a:rPr lang="en-US" altLang="ko-KR" b="1" dirty="0"/>
              <a:t>:</a:t>
            </a:r>
            <a:r>
              <a:rPr lang="ko-KR" altLang="en-US" dirty="0"/>
              <a:t> 대량의 자재 목록을 엑셀 파일</a:t>
            </a:r>
            <a:r>
              <a:rPr lang="en-US" altLang="ko-KR" dirty="0"/>
              <a:t>(.xlsx)</a:t>
            </a:r>
            <a:r>
              <a:rPr lang="ko-KR" altLang="en-US" dirty="0"/>
              <a:t>로 한번에 일괄 업로드합니다</a:t>
            </a:r>
            <a:r>
              <a:rPr lang="en-US" altLang="ko-KR" dirty="0"/>
              <a:t>. </a:t>
            </a:r>
            <a:r>
              <a:rPr lang="ko-KR" altLang="en-US" dirty="0"/>
              <a:t>양식 파일은 </a:t>
            </a:r>
            <a:r>
              <a:rPr lang="en-US" altLang="ko-KR" dirty="0" err="1"/>
              <a:t>my_erp</a:t>
            </a:r>
            <a:r>
              <a:rPr lang="en-US" altLang="ko-KR" dirty="0"/>
              <a:t> </a:t>
            </a:r>
            <a:r>
              <a:rPr lang="ko-KR" altLang="en-US" dirty="0"/>
              <a:t>폴더 안에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6132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49AEF-6D66-9166-D7A4-09ACB9C8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9BFEF1-F996-4A22-35D4-AC41A63531C3}"/>
              </a:ext>
            </a:extLst>
          </p:cNvPr>
          <p:cNvSpPr txBox="1"/>
          <p:nvPr/>
        </p:nvSpPr>
        <p:spPr>
          <a:xfrm>
            <a:off x="1" y="0"/>
            <a:ext cx="9144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시스템 기술 스택 구조 및 유지보수 가이드</a:t>
            </a:r>
            <a:r>
              <a:rPr lang="en-US" altLang="ko-KR" b="1" dirty="0"/>
              <a:t>(</a:t>
            </a:r>
            <a:r>
              <a:rPr lang="ko-KR" altLang="en-US" b="1" dirty="0"/>
              <a:t>관리자 전용</a:t>
            </a:r>
            <a:r>
              <a:rPr lang="en-US" altLang="ko-KR" b="1" dirty="0"/>
              <a:t>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dirty="0"/>
              <a:t>본 </a:t>
            </a:r>
            <a:r>
              <a:rPr lang="ko-KR" altLang="en-US" dirty="0" err="1"/>
              <a:t>광주오포센터</a:t>
            </a:r>
            <a:r>
              <a:rPr lang="ko-KR" altLang="en-US" dirty="0"/>
              <a:t> 자동화 </a:t>
            </a:r>
            <a:r>
              <a:rPr lang="en-US" altLang="ko-KR" dirty="0"/>
              <a:t>ERP </a:t>
            </a:r>
            <a:r>
              <a:rPr lang="ko-KR" altLang="en-US" dirty="0"/>
              <a:t>시스템은 </a:t>
            </a:r>
            <a:r>
              <a:rPr lang="en-US" altLang="ko-KR" b="1" dirty="0"/>
              <a:t>GitHub</a:t>
            </a:r>
            <a:r>
              <a:rPr lang="en-US" altLang="ko-KR" dirty="0"/>
              <a:t>, </a:t>
            </a:r>
            <a:r>
              <a:rPr lang="en-US" altLang="ko-KR" b="1" dirty="0" err="1"/>
              <a:t>Streamlit</a:t>
            </a:r>
            <a:r>
              <a:rPr lang="en-US" altLang="ko-KR" dirty="0"/>
              <a:t>, </a:t>
            </a:r>
            <a:r>
              <a:rPr lang="en-US" altLang="ko-KR" b="1" dirty="0" err="1"/>
              <a:t>Supabase</a:t>
            </a:r>
            <a:r>
              <a:rPr lang="ko-KR" altLang="en-US" dirty="0"/>
              <a:t>의 </a:t>
            </a:r>
            <a:r>
              <a:rPr lang="en-US" altLang="ko-KR" dirty="0"/>
              <a:t>3</a:t>
            </a:r>
            <a:r>
              <a:rPr lang="ko-KR" altLang="en-US" dirty="0"/>
              <a:t>가지 핵심 기술 조합으로 구축되어 있습니다</a:t>
            </a:r>
            <a:r>
              <a:rPr lang="en-US" altLang="ko-KR" dirty="0"/>
              <a:t>. </a:t>
            </a:r>
            <a:r>
              <a:rPr lang="ko-KR" altLang="en-US" dirty="0"/>
              <a:t>각 기술의 역할과 기본적인 수정 및 관리 방법은 다음과 같습니다</a:t>
            </a:r>
            <a:r>
              <a:rPr lang="en-US" altLang="ko-KR" dirty="0"/>
              <a:t>.</a:t>
            </a:r>
          </a:p>
        </p:txBody>
      </p:sp>
      <p:pic>
        <p:nvPicPr>
          <p:cNvPr id="3" name="Picture 2" descr="What is GitHub.. GitHub is a platform for online… | by Sameer Hussain |  Medium">
            <a:extLst>
              <a:ext uri="{FF2B5EF4-FFF2-40B4-BE49-F238E27FC236}">
                <a16:creationId xmlns:a16="http://schemas.microsoft.com/office/drawing/2014/main" id="{4DB9C1D9-D747-F0E6-2FFF-872C4F854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77328"/>
            <a:ext cx="4249219" cy="1575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B62B83-B4F1-EB4B-7317-BC9A5C2D2EB7}"/>
              </a:ext>
            </a:extLst>
          </p:cNvPr>
          <p:cNvSpPr txBox="1"/>
          <p:nvPr/>
        </p:nvSpPr>
        <p:spPr>
          <a:xfrm>
            <a:off x="1" y="3052372"/>
            <a:ext cx="9144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① </a:t>
            </a:r>
            <a:r>
              <a:rPr lang="en-US" altLang="ko-KR" b="1" dirty="0"/>
              <a:t>GitHub (</a:t>
            </a:r>
            <a:r>
              <a:rPr lang="ko-KR" altLang="en-US" b="1" dirty="0"/>
              <a:t>기능 추가 및 수정</a:t>
            </a:r>
            <a:r>
              <a:rPr lang="en-US" altLang="ko-KR" b="1" dirty="0"/>
              <a:t>)</a:t>
            </a:r>
          </a:p>
          <a:p>
            <a:pPr>
              <a:buNone/>
            </a:pPr>
            <a:endParaRPr lang="en-US" altLang="ko-KR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역할과 기능</a:t>
            </a:r>
            <a:r>
              <a:rPr lang="en-US" altLang="ko-KR" b="1" dirty="0"/>
              <a:t>: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ERP </a:t>
            </a:r>
            <a:r>
              <a:rPr lang="ko-KR" altLang="en-US" dirty="0"/>
              <a:t>앱의 전체 소스 코드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app.py</a:t>
            </a:r>
            <a:r>
              <a:rPr lang="en-US" altLang="ko-KR" dirty="0"/>
              <a:t>, </a:t>
            </a:r>
            <a:r>
              <a:rPr lang="ko-KR" altLang="en-US" dirty="0"/>
              <a:t>데이터베이스 연동 모듈 등</a:t>
            </a:r>
            <a:r>
              <a:rPr lang="en-US" altLang="ko-KR" dirty="0"/>
              <a:t>)</a:t>
            </a:r>
            <a:r>
              <a:rPr lang="ko-KR" altLang="en-US" dirty="0"/>
              <a:t>를 안전하게 저장하고 관리하는 저장소</a:t>
            </a:r>
            <a:r>
              <a:rPr lang="en-US" altLang="ko-KR" dirty="0"/>
              <a:t>(Repository)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코드가 수정될 때마다 이력이 기록되며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 Cloud</a:t>
            </a:r>
            <a:r>
              <a:rPr lang="ko-KR" altLang="en-US" dirty="0"/>
              <a:t>와 실시간으로 연동되어 코드 업데이트 시 웹 앱에 자동 반영됩니다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app.py</a:t>
            </a:r>
            <a:r>
              <a:rPr lang="en-US" altLang="ko-KR" dirty="0"/>
              <a:t> : </a:t>
            </a:r>
            <a:r>
              <a:rPr lang="ko-KR" altLang="en-US" dirty="0"/>
              <a:t>기능 수행을 관장하는 메인 코드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db_helper.py</a:t>
            </a:r>
            <a:r>
              <a:rPr lang="en-US" altLang="ko-KR" dirty="0"/>
              <a:t> : </a:t>
            </a:r>
            <a:r>
              <a:rPr lang="ko-KR" altLang="en-US" dirty="0"/>
              <a:t>데이터 베이스 호출 관장 코드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Requirements.txt</a:t>
            </a:r>
            <a:r>
              <a:rPr lang="en-US" altLang="ko-KR" dirty="0"/>
              <a:t> : </a:t>
            </a:r>
            <a:r>
              <a:rPr lang="ko-KR" altLang="en-US" dirty="0"/>
              <a:t>기능 수행에 필요한 도구 목록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74730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421C5-2C90-3FA9-81FF-403C7ADFD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Supabase is Supa Awesome: Here is Why You Should Use It for Your Next Web  Application | by Abe Ahn | Medium">
            <a:extLst>
              <a:ext uri="{FF2B5EF4-FFF2-40B4-BE49-F238E27FC236}">
                <a16:creationId xmlns:a16="http://schemas.microsoft.com/office/drawing/2014/main" id="{81696CE2-9FEB-2E5B-C383-A1B98D495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99881" cy="1303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E47019-46D6-28B2-6B22-28969F90ECC9}"/>
              </a:ext>
            </a:extLst>
          </p:cNvPr>
          <p:cNvSpPr txBox="1"/>
          <p:nvPr/>
        </p:nvSpPr>
        <p:spPr>
          <a:xfrm>
            <a:off x="0" y="1303337"/>
            <a:ext cx="9144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 err="1"/>
              <a:t>Supabase</a:t>
            </a:r>
            <a:r>
              <a:rPr lang="en-US" altLang="ko-KR" b="1" dirty="0"/>
              <a:t> (</a:t>
            </a:r>
            <a:r>
              <a:rPr lang="ko-KR" altLang="en-US" b="1" dirty="0"/>
              <a:t>데이터베이스 저장 및 관리</a:t>
            </a:r>
            <a:r>
              <a:rPr lang="en-US" altLang="ko-KR" b="1" dirty="0"/>
              <a:t>)</a:t>
            </a:r>
          </a:p>
          <a:p>
            <a:pPr>
              <a:buNone/>
            </a:pPr>
            <a:endParaRPr lang="en-US" altLang="ko-KR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역할과 기능</a:t>
            </a:r>
            <a:r>
              <a:rPr lang="en-US" altLang="ko-KR" b="1" dirty="0"/>
              <a:t>: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센터의 모든 자재 정보</a:t>
            </a:r>
            <a:r>
              <a:rPr lang="en-US" altLang="ko-KR" dirty="0"/>
              <a:t>(</a:t>
            </a:r>
            <a:r>
              <a:rPr lang="en-US" altLang="ko-KR" dirty="0">
                <a:latin typeface="Courier New" panose="02070309020205020404" pitchFamily="49" charset="0"/>
              </a:rPr>
              <a:t>items</a:t>
            </a:r>
            <a:r>
              <a:rPr lang="en-US" altLang="ko-KR" dirty="0"/>
              <a:t>), </a:t>
            </a:r>
            <a:r>
              <a:rPr lang="ko-KR" altLang="en-US" dirty="0"/>
              <a:t>입출고 트랜잭션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stock_transactions</a:t>
            </a:r>
            <a:r>
              <a:rPr lang="en-US" altLang="ko-KR" dirty="0"/>
              <a:t>), </a:t>
            </a:r>
            <a:r>
              <a:rPr lang="ko-KR" altLang="en-US" dirty="0"/>
              <a:t>사용자 계정</a:t>
            </a:r>
            <a:r>
              <a:rPr lang="en-US" altLang="ko-KR" dirty="0"/>
              <a:t>(</a:t>
            </a:r>
            <a:r>
              <a:rPr lang="en-US" altLang="ko-KR" dirty="0">
                <a:latin typeface="Courier New" panose="02070309020205020404" pitchFamily="49" charset="0"/>
              </a:rPr>
              <a:t>users</a:t>
            </a:r>
            <a:r>
              <a:rPr lang="en-US" altLang="ko-KR" dirty="0"/>
              <a:t>), </a:t>
            </a:r>
            <a:r>
              <a:rPr lang="ko-KR" altLang="en-US" dirty="0"/>
              <a:t>환율 정보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exchange_rates</a:t>
            </a:r>
            <a:r>
              <a:rPr lang="en-US" altLang="ko-KR" dirty="0"/>
              <a:t>)</a:t>
            </a:r>
            <a:r>
              <a:rPr lang="ko-KR" altLang="en-US" dirty="0"/>
              <a:t>를 안전하게 보관하는 클라우드 데이터베이스</a:t>
            </a:r>
            <a:r>
              <a:rPr lang="en-US" altLang="ko-KR" dirty="0"/>
              <a:t>(PostgreSQL </a:t>
            </a:r>
            <a:r>
              <a:rPr lang="ko-KR" altLang="en-US" dirty="0"/>
              <a:t>기반</a:t>
            </a:r>
            <a:r>
              <a:rPr lang="en-US" altLang="ko-KR" dirty="0"/>
              <a:t>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데이터 저장</a:t>
            </a:r>
            <a:r>
              <a:rPr lang="en-US" altLang="ko-KR" dirty="0"/>
              <a:t>, </a:t>
            </a:r>
            <a:r>
              <a:rPr lang="ko-KR" altLang="en-US" dirty="0"/>
              <a:t>불러오기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삭제 등의 </a:t>
            </a:r>
            <a:r>
              <a:rPr lang="ko-KR" altLang="en-US" dirty="0" err="1"/>
              <a:t>백엔드</a:t>
            </a:r>
            <a:r>
              <a:rPr lang="ko-KR" altLang="en-US" dirty="0"/>
              <a:t> 처리를 담당합니다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기본적인 사용 방법</a:t>
            </a:r>
            <a:r>
              <a:rPr lang="en-US" altLang="ko-KR" b="1" dirty="0"/>
              <a:t>: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데이터 직접 확인</a:t>
            </a:r>
            <a:r>
              <a:rPr lang="en-US" altLang="ko-KR" b="1" dirty="0"/>
              <a:t>/</a:t>
            </a:r>
            <a:r>
              <a:rPr lang="ko-KR" altLang="en-US" b="1" dirty="0"/>
              <a:t>수정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 err="1"/>
              <a:t>Supabase</a:t>
            </a:r>
            <a:r>
              <a:rPr lang="en-US" altLang="ko-KR" dirty="0"/>
              <a:t> </a:t>
            </a:r>
            <a:r>
              <a:rPr lang="ko-KR" altLang="en-US" dirty="0"/>
              <a:t>대시보드에 로그인한 후 </a:t>
            </a:r>
            <a:r>
              <a:rPr lang="en-US" altLang="ko-KR" b="1" dirty="0"/>
              <a:t>Table Editor</a:t>
            </a:r>
            <a:r>
              <a:rPr lang="ko-KR" altLang="en-US" dirty="0"/>
              <a:t> 메뉴로 이동하면 엑셀 시트처럼 자재 목록이나 사용자 정보를 직접 확인하고 긴급 수정할 수 있습니다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테이블 구조 확인</a:t>
            </a:r>
            <a:r>
              <a:rPr lang="en-US" altLang="ko-KR" b="1" dirty="0"/>
              <a:t>:</a:t>
            </a:r>
            <a:r>
              <a:rPr lang="ko-KR" altLang="en-US" dirty="0"/>
              <a:t> 새로운 컬럼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  <a:r>
              <a:rPr lang="ko-KR" altLang="en-US" dirty="0"/>
              <a:t>을 추가하거나 데이터 타입을 변경해야 할 때는 </a:t>
            </a:r>
            <a:r>
              <a:rPr lang="en-US" altLang="ko-KR" dirty="0" err="1"/>
              <a:t>Supabase</a:t>
            </a:r>
            <a:r>
              <a:rPr lang="ko-KR" altLang="en-US" dirty="0"/>
              <a:t>의 </a:t>
            </a:r>
            <a:r>
              <a:rPr lang="en-US" altLang="ko-KR" dirty="0"/>
              <a:t>SQL Editor</a:t>
            </a:r>
            <a:r>
              <a:rPr lang="ko-KR" altLang="en-US" dirty="0"/>
              <a:t>나 </a:t>
            </a:r>
            <a:r>
              <a:rPr lang="en-US" altLang="ko-KR" dirty="0"/>
              <a:t>Table Editor </a:t>
            </a:r>
            <a:r>
              <a:rPr lang="ko-KR" altLang="en-US" dirty="0"/>
              <a:t>기능을 활용합니다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lvl="1"/>
            <a:r>
              <a:rPr lang="ko-KR" altLang="en-US" dirty="0"/>
              <a:t>* 데이터가 지워지면 복구를 할 수 없습니다</a:t>
            </a:r>
            <a:r>
              <a:rPr lang="en-US" altLang="ko-KR" dirty="0"/>
              <a:t>. </a:t>
            </a:r>
            <a:r>
              <a:rPr lang="en-US" altLang="ko-KR" dirty="0" err="1"/>
              <a:t>Supabase</a:t>
            </a:r>
            <a:r>
              <a:rPr lang="ko-KR" altLang="en-US" dirty="0"/>
              <a:t>에서 데이터를 수정하거나 삭제하는 것은 가급적 지양 바랍니다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260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D3429-AFFE-7170-660B-3C02500A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개념정리] Streamlit👑 소개 및 활용 가이드">
            <a:extLst>
              <a:ext uri="{FF2B5EF4-FFF2-40B4-BE49-F238E27FC236}">
                <a16:creationId xmlns:a16="http://schemas.microsoft.com/office/drawing/2014/main" id="{7D1C8221-0500-1EF7-142E-1AD214FB2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6166" cy="158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ABF2E5-CA2F-8F9D-98CE-E8D06CE73368}"/>
              </a:ext>
            </a:extLst>
          </p:cNvPr>
          <p:cNvSpPr txBox="1"/>
          <p:nvPr/>
        </p:nvSpPr>
        <p:spPr>
          <a:xfrm>
            <a:off x="1" y="1584000"/>
            <a:ext cx="9144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 err="1"/>
              <a:t>Streamlit</a:t>
            </a:r>
            <a:r>
              <a:rPr lang="en-US" altLang="ko-KR" b="1" dirty="0"/>
              <a:t> (</a:t>
            </a:r>
            <a:r>
              <a:rPr lang="ko-KR" altLang="en-US" b="1" dirty="0"/>
              <a:t>코드 기능을 웹으로 구현</a:t>
            </a:r>
            <a:r>
              <a:rPr lang="en-US" altLang="ko-KR" b="1" dirty="0"/>
              <a:t>)</a:t>
            </a:r>
          </a:p>
          <a:p>
            <a:pPr>
              <a:buNone/>
            </a:pPr>
            <a:endParaRPr lang="en-US" altLang="ko-KR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역할과 기능</a:t>
            </a:r>
            <a:r>
              <a:rPr lang="en-US" altLang="ko-KR" b="1" dirty="0"/>
              <a:t>: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파이썬</a:t>
            </a:r>
            <a:r>
              <a:rPr lang="en-US" altLang="ko-KR" dirty="0"/>
              <a:t>(Python) </a:t>
            </a:r>
            <a:r>
              <a:rPr lang="ko-KR" altLang="en-US" dirty="0"/>
              <a:t>코드를 기반으로 복잡한 </a:t>
            </a:r>
            <a:r>
              <a:rPr lang="en-US" altLang="ko-KR" dirty="0"/>
              <a:t>HTML/JS </a:t>
            </a:r>
            <a:r>
              <a:rPr lang="ko-KR" altLang="en-US" dirty="0"/>
              <a:t>작업 없이 직관적인 웹 화면</a:t>
            </a:r>
            <a:r>
              <a:rPr lang="en-US" altLang="ko-KR" dirty="0"/>
              <a:t>(UI)</a:t>
            </a:r>
            <a:r>
              <a:rPr lang="ko-KR" altLang="en-US" dirty="0"/>
              <a:t>과 대시보드를 만들어주는 프레임워크입니다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사용자가 보는 버튼</a:t>
            </a:r>
            <a:r>
              <a:rPr lang="en-US" altLang="ko-KR" dirty="0"/>
              <a:t>, </a:t>
            </a:r>
            <a:r>
              <a:rPr lang="ko-KR" altLang="en-US" dirty="0"/>
              <a:t>입력 폼</a:t>
            </a:r>
            <a:r>
              <a:rPr lang="en-US" altLang="ko-KR" dirty="0"/>
              <a:t>, </a:t>
            </a:r>
            <a:r>
              <a:rPr lang="ko-KR" altLang="en-US" dirty="0"/>
              <a:t>표</a:t>
            </a:r>
            <a:r>
              <a:rPr lang="en-US" altLang="ko-KR" dirty="0"/>
              <a:t>(</a:t>
            </a:r>
            <a:r>
              <a:rPr lang="en-US" altLang="ko-KR" dirty="0" err="1"/>
              <a:t>DataFrame</a:t>
            </a:r>
            <a:r>
              <a:rPr lang="en-US" altLang="ko-KR" dirty="0"/>
              <a:t>), </a:t>
            </a:r>
            <a:r>
              <a:rPr lang="ko-KR" altLang="en-US" dirty="0"/>
              <a:t>그래프 등이 모두 </a:t>
            </a:r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라이브러리로 구현되어 있습니다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기본적인 사용 방법</a:t>
            </a:r>
            <a:r>
              <a:rPr lang="en-US" altLang="ko-KR" b="1" dirty="0"/>
              <a:t>: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화면 레이아웃이나 문구를 변경하고 싶을 때는 </a:t>
            </a:r>
            <a:r>
              <a:rPr lang="en-US" altLang="ko-KR" dirty="0" err="1"/>
              <a:t>Github</a:t>
            </a:r>
            <a:r>
              <a:rPr lang="ko-KR" altLang="en-US" dirty="0"/>
              <a:t>의 </a:t>
            </a:r>
            <a:r>
              <a:rPr lang="en-US" altLang="ko-KR" dirty="0" err="1"/>
              <a:t>app.py</a:t>
            </a:r>
            <a:r>
              <a:rPr lang="en-US" altLang="ko-KR" dirty="0"/>
              <a:t> </a:t>
            </a:r>
            <a:r>
              <a:rPr lang="ko-KR" altLang="en-US" dirty="0"/>
              <a:t>코드를 통해 수정하면</a:t>
            </a:r>
            <a:r>
              <a:rPr lang="en-US" altLang="ko-KR" dirty="0"/>
              <a:t>, </a:t>
            </a:r>
            <a:r>
              <a:rPr lang="ko-KR" altLang="en-US" dirty="0"/>
              <a:t>잠시 후 수정사항이 반영된 웹페이지를 이용가능 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8309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</TotalTime>
  <Words>1103</Words>
  <Application>Microsoft Office PowerPoint</Application>
  <PresentationFormat>화면 슬라이드 쇼(4:3)</PresentationFormat>
  <Paragraphs>109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굴림</vt:lpstr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neo004 etm</dc:creator>
  <cp:lastModifiedBy>neo004 etm</cp:lastModifiedBy>
  <cp:revision>1</cp:revision>
  <dcterms:created xsi:type="dcterms:W3CDTF">2026-10-26T06:24:17Z</dcterms:created>
  <dcterms:modified xsi:type="dcterms:W3CDTF">2026-10-26T07:23:43Z</dcterms:modified>
</cp:coreProperties>
</file>