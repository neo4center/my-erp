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6" r:id="rId3"/>
    <p:sldId id="257" r:id="rId4"/>
    <p:sldId id="258" r:id="rId5"/>
    <p:sldId id="260" r:id="rId6"/>
    <p:sldId id="259" r:id="rId7"/>
    <p:sldId id="261" r:id="rId8"/>
    <p:sldId id="265" r:id="rId9"/>
    <p:sldId id="262" r:id="rId10"/>
    <p:sldId id="263" r:id="rId11"/>
    <p:sldId id="264" r:id="rId12"/>
    <p:sldId id="267" r:id="rId13"/>
  </p:sldIdLst>
  <p:sldSz cx="107997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23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356703"/>
            <a:ext cx="9179799" cy="501340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563446"/>
            <a:ext cx="8099822" cy="3476717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14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19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590057"/>
            <a:ext cx="9314796" cy="5990088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9636813"/>
            <a:ext cx="9314796" cy="31500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67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833390"/>
            <a:ext cx="4589899" cy="91368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833390"/>
            <a:ext cx="4589899" cy="91368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2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6681"/>
            <a:ext cx="9314796" cy="278337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530053"/>
            <a:ext cx="4568805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260078"/>
            <a:ext cx="4568805" cy="7736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530053"/>
            <a:ext cx="4591306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260078"/>
            <a:ext cx="4591306" cy="7736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46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50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4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073367"/>
            <a:ext cx="5467380" cy="1023348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12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073367"/>
            <a:ext cx="5467380" cy="1023348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5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6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766678"/>
            <a:ext cx="2328699" cy="1220351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766678"/>
            <a:ext cx="6851100" cy="1220351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76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766681"/>
            <a:ext cx="931479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833390"/>
            <a:ext cx="931479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E0AB8-33DC-4B5B-A688-FFBB75A029EA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3346867"/>
            <a:ext cx="364492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D6781-1ACF-4161-B154-8F96D6F103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79998" rtl="0" eaLnBrk="1" latinLnBrk="1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y-erp-66zbzaffpenjtjjf2kengo.streamlit.app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527FD-85A7-FF6D-B7AB-01C113992DD1}"/>
              </a:ext>
            </a:extLst>
          </p:cNvPr>
          <p:cNvSpPr txBox="1"/>
          <p:nvPr/>
        </p:nvSpPr>
        <p:spPr>
          <a:xfrm>
            <a:off x="0" y="3783786"/>
            <a:ext cx="10799763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50" b="1" dirty="0"/>
              <a:t>🏭 </a:t>
            </a:r>
            <a:r>
              <a:rPr lang="ko-KR" altLang="en-US" sz="3650" b="1" dirty="0" err="1"/>
              <a:t>광주오포센터</a:t>
            </a:r>
            <a:r>
              <a:rPr lang="ko-KR" altLang="en-US" sz="3650" b="1" dirty="0"/>
              <a:t> 자동화 </a:t>
            </a:r>
            <a:r>
              <a:rPr lang="en-US" altLang="ko-KR" sz="3650" b="1" dirty="0"/>
              <a:t>ERP </a:t>
            </a:r>
            <a:r>
              <a:rPr lang="ko-KR" altLang="en-US" sz="3650" b="1" dirty="0"/>
              <a:t>시스템 사용 매뉴얼</a:t>
            </a:r>
            <a:endParaRPr lang="en-US" altLang="ko-KR" sz="3650" b="1" dirty="0"/>
          </a:p>
          <a:p>
            <a:pPr>
              <a:buNone/>
            </a:pPr>
            <a:endParaRPr lang="ko-KR" altLang="en-US" sz="3650" b="1" dirty="0"/>
          </a:p>
          <a:p>
            <a:pPr>
              <a:buNone/>
            </a:pPr>
            <a:r>
              <a:rPr lang="ko-KR" altLang="en-US" sz="3650" dirty="0"/>
              <a:t>안녕하세요</a:t>
            </a:r>
            <a:r>
              <a:rPr lang="en-US" altLang="ko-KR" sz="3650" dirty="0"/>
              <a:t>! </a:t>
            </a:r>
            <a:r>
              <a:rPr lang="ko-KR" altLang="en-US" sz="3650" dirty="0"/>
              <a:t>본 시스템은 </a:t>
            </a:r>
            <a:r>
              <a:rPr lang="ko-KR" altLang="en-US" sz="3650" dirty="0" err="1"/>
              <a:t>광주오포센터</a:t>
            </a:r>
            <a:r>
              <a:rPr lang="ko-KR" altLang="en-US" sz="3650" dirty="0"/>
              <a:t> 자재 관리의 효율성을 높이고</a:t>
            </a:r>
            <a:r>
              <a:rPr lang="en-US" altLang="ko-KR" sz="3650" dirty="0"/>
              <a:t>, </a:t>
            </a:r>
            <a:r>
              <a:rPr lang="ko-KR" altLang="en-US" sz="3650" dirty="0"/>
              <a:t>실시간 재고 현황 파악 및 입출고 이력 관리를 위해 제작된 자동화 </a:t>
            </a:r>
            <a:r>
              <a:rPr lang="en-US" altLang="ko-KR" sz="3650" dirty="0"/>
              <a:t>ERP </a:t>
            </a:r>
            <a:r>
              <a:rPr lang="ko-KR" altLang="en-US" sz="3650" dirty="0"/>
              <a:t>웹 애플리케이션입니다</a:t>
            </a:r>
            <a:r>
              <a:rPr lang="en-US" altLang="ko-KR" sz="3650" dirty="0"/>
              <a:t>.</a:t>
            </a:r>
          </a:p>
          <a:p>
            <a:pPr>
              <a:buNone/>
            </a:pPr>
            <a:endParaRPr lang="en-US" altLang="ko-KR" sz="3650" dirty="0"/>
          </a:p>
          <a:p>
            <a:pPr>
              <a:buNone/>
            </a:pPr>
            <a:r>
              <a:rPr lang="ko-KR" altLang="en-US" sz="3650" dirty="0"/>
              <a:t>오픈 </a:t>
            </a:r>
            <a:r>
              <a:rPr lang="en-US" altLang="ko-KR" sz="3650" dirty="0"/>
              <a:t>AI</a:t>
            </a:r>
            <a:r>
              <a:rPr lang="ko-KR" altLang="en-US" sz="3650" dirty="0"/>
              <a:t>인 </a:t>
            </a:r>
            <a:r>
              <a:rPr lang="ko-KR" altLang="en-US" sz="3650" dirty="0" err="1"/>
              <a:t>제미나이를</a:t>
            </a:r>
            <a:r>
              <a:rPr lang="ko-KR" altLang="en-US" sz="3650" dirty="0"/>
              <a:t> 통해 제작된 앱으로</a:t>
            </a:r>
            <a:endParaRPr lang="en-US" altLang="ko-KR" sz="3650" dirty="0"/>
          </a:p>
          <a:p>
            <a:pPr>
              <a:buNone/>
            </a:pPr>
            <a:r>
              <a:rPr lang="ko-KR" altLang="en-US" sz="3650" dirty="0"/>
              <a:t>수정 및 조치는 모두 </a:t>
            </a:r>
            <a:r>
              <a:rPr lang="en-US" altLang="ko-KR" sz="3650" dirty="0"/>
              <a:t>AI</a:t>
            </a:r>
            <a:r>
              <a:rPr lang="ko-KR" altLang="en-US" sz="3650" dirty="0"/>
              <a:t>를 통해 진행되어왔습니다</a:t>
            </a:r>
            <a:r>
              <a:rPr lang="en-US" altLang="ko-KR" sz="3650" dirty="0"/>
              <a:t>.</a:t>
            </a:r>
          </a:p>
          <a:p>
            <a:pPr>
              <a:buNone/>
            </a:pPr>
            <a:r>
              <a:rPr lang="ko-KR" altLang="en-US" sz="3650" dirty="0"/>
              <a:t>요구사항을 세부적으로 정확하게 입력하시면</a:t>
            </a:r>
            <a:r>
              <a:rPr lang="en-US" altLang="ko-KR" sz="3650" dirty="0"/>
              <a:t>, </a:t>
            </a:r>
            <a:r>
              <a:rPr lang="ko-KR" altLang="en-US" sz="3650" dirty="0"/>
              <a:t>코딩 관련 지식이 없어도 </a:t>
            </a:r>
            <a:r>
              <a:rPr lang="ko-KR" altLang="en-US" sz="3650" dirty="0" err="1"/>
              <a:t>무리없이</a:t>
            </a:r>
            <a:r>
              <a:rPr lang="ko-KR" altLang="en-US" sz="3650" dirty="0"/>
              <a:t> 업무를 수행하실 수 있습니다</a:t>
            </a:r>
            <a:r>
              <a:rPr lang="en-US" altLang="ko-KR" sz="3650" dirty="0"/>
              <a:t>.</a:t>
            </a:r>
            <a:endParaRPr lang="ko-KR" altLang="en-US" sz="3650" dirty="0"/>
          </a:p>
        </p:txBody>
      </p:sp>
    </p:spTree>
    <p:extLst>
      <p:ext uri="{BB962C8B-B14F-4D97-AF65-F5344CB8AC3E}">
        <p14:creationId xmlns:p14="http://schemas.microsoft.com/office/powerpoint/2010/main" val="3216090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E8E410-0187-7775-9624-956B1ED73288}"/>
              </a:ext>
            </a:extLst>
          </p:cNvPr>
          <p:cNvSpPr txBox="1"/>
          <p:nvPr/>
        </p:nvSpPr>
        <p:spPr>
          <a:xfrm>
            <a:off x="-1" y="212103"/>
            <a:ext cx="10799763" cy="13976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51" b="1" dirty="0"/>
              <a:t>🏭 </a:t>
            </a:r>
            <a:r>
              <a:rPr lang="ko-KR" altLang="en-US" sz="3651" b="1" dirty="0" err="1"/>
              <a:t>광주오포센터</a:t>
            </a:r>
            <a:r>
              <a:rPr lang="ko-KR" altLang="en-US" sz="3651" b="1" dirty="0"/>
              <a:t> 자동화 </a:t>
            </a:r>
            <a:r>
              <a:rPr lang="en-US" altLang="ko-KR" sz="3651" b="1" dirty="0"/>
              <a:t>ERP </a:t>
            </a:r>
            <a:r>
              <a:rPr lang="ko-KR" altLang="en-US" sz="3651" b="1" dirty="0"/>
              <a:t>시스템 주소 및 관리자 계정</a:t>
            </a:r>
            <a:endParaRPr lang="en-US" altLang="ko-KR" sz="3651" b="1" dirty="0"/>
          </a:p>
          <a:p>
            <a:pPr>
              <a:buNone/>
            </a:pPr>
            <a:endParaRPr lang="en-US" altLang="ko-KR" sz="3651" b="1" dirty="0"/>
          </a:p>
          <a:p>
            <a:pPr>
              <a:buNone/>
            </a:pPr>
            <a:r>
              <a:rPr lang="en-US" altLang="ko-KR" sz="3651" dirty="0">
                <a:hlinkClick r:id="rId2"/>
              </a:rPr>
              <a:t>https://my-</a:t>
            </a:r>
            <a:r>
              <a:rPr lang="en-US" altLang="ko-KR" sz="3651" dirty="0" err="1">
                <a:hlinkClick r:id="rId2"/>
              </a:rPr>
              <a:t>erp</a:t>
            </a:r>
            <a:r>
              <a:rPr lang="en-US" altLang="ko-KR" sz="3651" dirty="0">
                <a:hlinkClick r:id="rId2"/>
              </a:rPr>
              <a:t>-</a:t>
            </a:r>
            <a:r>
              <a:rPr lang="en-US" altLang="ko-KR" sz="3651" dirty="0" err="1">
                <a:hlinkClick r:id="rId2"/>
              </a:rPr>
              <a:t>66zbzaffpenjtjjf2kengo.streamlit.app</a:t>
            </a:r>
            <a:r>
              <a:rPr lang="en-US" altLang="ko-KR" sz="3651" dirty="0">
                <a:hlinkClick r:id="rId2"/>
              </a:rPr>
              <a:t>/</a:t>
            </a:r>
            <a:endParaRPr lang="en-US" altLang="ko-KR" sz="3651" dirty="0"/>
          </a:p>
          <a:p>
            <a:pPr>
              <a:buNone/>
            </a:pPr>
            <a:r>
              <a:rPr lang="en-US" altLang="ko-KR" sz="3651" dirty="0"/>
              <a:t>ID : admin / PW : admin</a:t>
            </a:r>
          </a:p>
          <a:p>
            <a:pPr>
              <a:buNone/>
            </a:pPr>
            <a:r>
              <a:rPr lang="ko-KR" altLang="en-US" sz="3651" dirty="0"/>
              <a:t>바탕화면</a:t>
            </a:r>
            <a:r>
              <a:rPr lang="en-US" altLang="ko-KR" sz="3651" dirty="0"/>
              <a:t>-my </a:t>
            </a:r>
            <a:r>
              <a:rPr lang="en-US" altLang="ko-KR" sz="3651" dirty="0" err="1"/>
              <a:t>erp</a:t>
            </a:r>
            <a:r>
              <a:rPr lang="en-US" altLang="ko-KR" sz="3651" dirty="0"/>
              <a:t> </a:t>
            </a:r>
            <a:r>
              <a:rPr lang="ko-KR" altLang="en-US" sz="3651" dirty="0"/>
              <a:t>폴더 내 백업용 코드</a:t>
            </a:r>
            <a:r>
              <a:rPr lang="en-US" altLang="ko-KR" sz="3651" dirty="0"/>
              <a:t>, </a:t>
            </a:r>
            <a:r>
              <a:rPr lang="ko-KR" altLang="en-US" sz="3651" dirty="0"/>
              <a:t>각종 아이디 메모 참고</a:t>
            </a:r>
            <a:endParaRPr lang="en-US" altLang="ko-KR" sz="3651" dirty="0"/>
          </a:p>
          <a:p>
            <a:pPr>
              <a:buNone/>
            </a:pPr>
            <a:endParaRPr lang="en-US" altLang="ko-KR" sz="3651" dirty="0"/>
          </a:p>
          <a:p>
            <a:pPr>
              <a:buNone/>
            </a:pPr>
            <a:r>
              <a:rPr lang="ko-KR" altLang="en-US" sz="3651" b="1" dirty="0"/>
              <a:t>📌 목차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시스템 접속 및 로그인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재고 </a:t>
            </a:r>
            <a:r>
              <a:rPr lang="ko-KR" altLang="en-US" sz="3651" dirty="0" err="1">
                <a:solidFill>
                  <a:srgbClr val="0070C0"/>
                </a:solidFill>
              </a:rPr>
              <a:t>현황판</a:t>
            </a:r>
            <a:r>
              <a:rPr lang="ko-KR" altLang="en-US" sz="3651" dirty="0">
                <a:solidFill>
                  <a:srgbClr val="0070C0"/>
                </a:solidFill>
              </a:rPr>
              <a:t> </a:t>
            </a:r>
            <a:r>
              <a:rPr lang="en-US" altLang="ko-KR" sz="3651" dirty="0">
                <a:solidFill>
                  <a:srgbClr val="0070C0"/>
                </a:solidFill>
              </a:rPr>
              <a:t>(</a:t>
            </a:r>
            <a:r>
              <a:rPr lang="ko-KR" altLang="en-US" sz="3651" dirty="0">
                <a:solidFill>
                  <a:srgbClr val="0070C0"/>
                </a:solidFill>
              </a:rPr>
              <a:t>조회 및 명세서 출력</a:t>
            </a:r>
            <a:r>
              <a:rPr lang="en-US" altLang="ko-KR" sz="3651" dirty="0">
                <a:solidFill>
                  <a:srgbClr val="0070C0"/>
                </a:solidFill>
              </a:rPr>
              <a:t>)</a:t>
            </a:r>
            <a:endParaRPr lang="ko-KR" altLang="en-US" sz="3651" dirty="0">
              <a:solidFill>
                <a:srgbClr val="0070C0"/>
              </a:solidFill>
            </a:endParaRP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자재 입출고 등록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품목 관리 </a:t>
            </a:r>
            <a:r>
              <a:rPr lang="en-US" altLang="ko-KR" sz="3651" dirty="0">
                <a:solidFill>
                  <a:srgbClr val="0070C0"/>
                </a:solidFill>
              </a:rPr>
              <a:t>(</a:t>
            </a:r>
            <a:r>
              <a:rPr lang="ko-KR" altLang="en-US" sz="3651" dirty="0">
                <a:solidFill>
                  <a:srgbClr val="0070C0"/>
                </a:solidFill>
              </a:rPr>
              <a:t>신규 등록 및 수정</a:t>
            </a:r>
            <a:r>
              <a:rPr lang="en-US" altLang="ko-KR" sz="3651" dirty="0">
                <a:solidFill>
                  <a:srgbClr val="0070C0"/>
                </a:solidFill>
              </a:rPr>
              <a:t>)</a:t>
            </a:r>
            <a:endParaRPr lang="ko-KR" altLang="en-US" sz="3651" dirty="0">
              <a:solidFill>
                <a:srgbClr val="0070C0"/>
              </a:solidFill>
            </a:endParaRP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입출고 내역 및 소진 추이 조회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환율 설정 및 사용자 관리 </a:t>
            </a:r>
            <a:r>
              <a:rPr lang="en-US" altLang="ko-KR" sz="3651" dirty="0">
                <a:solidFill>
                  <a:srgbClr val="0070C0"/>
                </a:solidFill>
              </a:rPr>
              <a:t>(</a:t>
            </a:r>
            <a:r>
              <a:rPr lang="ko-KR" altLang="en-US" sz="3651" dirty="0">
                <a:solidFill>
                  <a:srgbClr val="0070C0"/>
                </a:solidFill>
              </a:rPr>
              <a:t>관리자 전용</a:t>
            </a:r>
            <a:r>
              <a:rPr lang="en-US" altLang="ko-KR" sz="3651" dirty="0">
                <a:solidFill>
                  <a:srgbClr val="0070C0"/>
                </a:solidFill>
              </a:rPr>
              <a:t>)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ko-KR" altLang="en-US" sz="3651" dirty="0">
                <a:solidFill>
                  <a:srgbClr val="0070C0"/>
                </a:solidFill>
              </a:rPr>
              <a:t> 시스템 기술 스택 구조 및 유지보수 가이드</a:t>
            </a:r>
            <a:r>
              <a:rPr lang="en-US" altLang="ko-KR" sz="3651" dirty="0">
                <a:solidFill>
                  <a:srgbClr val="0070C0"/>
                </a:solidFill>
              </a:rPr>
              <a:t>(</a:t>
            </a:r>
            <a:r>
              <a:rPr lang="ko-KR" altLang="en-US" sz="3651" dirty="0">
                <a:solidFill>
                  <a:srgbClr val="0070C0"/>
                </a:solidFill>
              </a:rPr>
              <a:t>담당자 전용</a:t>
            </a:r>
            <a:r>
              <a:rPr lang="en-US" altLang="ko-KR" sz="3651" dirty="0">
                <a:solidFill>
                  <a:srgbClr val="0070C0"/>
                </a:solidFill>
              </a:rPr>
              <a:t>)</a:t>
            </a:r>
            <a:endParaRPr lang="ko-KR" altLang="en-US" sz="365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30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D78B5781-0269-A7E8-5F59-08A1257E0304}"/>
              </a:ext>
            </a:extLst>
          </p:cNvPr>
          <p:cNvGrpSpPr/>
          <p:nvPr/>
        </p:nvGrpSpPr>
        <p:grpSpPr>
          <a:xfrm>
            <a:off x="0" y="1071571"/>
            <a:ext cx="10799763" cy="12257070"/>
            <a:chOff x="0" y="477052"/>
            <a:chExt cx="6858000" cy="77834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A05B22-C4C4-79EC-27DF-19123D475C5C}"/>
                </a:ext>
              </a:extLst>
            </p:cNvPr>
            <p:cNvSpPr txBox="1"/>
            <p:nvPr/>
          </p:nvSpPr>
          <p:spPr>
            <a:xfrm>
              <a:off x="0" y="2136845"/>
              <a:ext cx="6858000" cy="6123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40000" indent="-540000">
                <a:buAutoNum type="arabicPeriod"/>
              </a:pPr>
              <a:r>
                <a:rPr lang="ko-KR" altLang="en-US" sz="3651" b="1" dirty="0"/>
                <a:t>시스템 접속 및 로그인</a:t>
              </a:r>
              <a:endParaRPr lang="en-US" altLang="ko-KR" sz="3651" b="1" dirty="0"/>
            </a:p>
            <a:p>
              <a:endParaRPr lang="ko-KR" altLang="en-US" sz="3651" b="1" dirty="0"/>
            </a:p>
            <a:p>
              <a:pPr>
                <a:buNone/>
              </a:pPr>
              <a:r>
                <a:rPr lang="ko-KR" altLang="en-US" sz="3651" dirty="0"/>
                <a:t>웹 브라우저를 통해 </a:t>
              </a:r>
              <a:r>
                <a:rPr lang="en-US" altLang="ko-KR" sz="3651" dirty="0"/>
                <a:t>ERP </a:t>
              </a:r>
              <a:r>
                <a:rPr lang="ko-KR" altLang="en-US" sz="3651" dirty="0"/>
                <a:t>시스템에 접속한 후</a:t>
              </a:r>
              <a:r>
                <a:rPr lang="en-US" altLang="ko-KR" sz="3651" dirty="0"/>
                <a:t>, </a:t>
              </a:r>
              <a:r>
                <a:rPr lang="ko-KR" altLang="en-US" sz="3651" dirty="0" err="1"/>
                <a:t>부여받은</a:t>
              </a:r>
              <a:r>
                <a:rPr lang="ko-KR" altLang="en-US" sz="3651" dirty="0"/>
                <a:t> 계정 정보를 입력합니다</a:t>
              </a:r>
              <a:r>
                <a:rPr lang="en-US" altLang="ko-KR" sz="3651" dirty="0"/>
                <a:t>.</a:t>
              </a:r>
            </a:p>
            <a:p>
              <a:pPr>
                <a:buNone/>
              </a:pPr>
              <a:endParaRPr lang="en-US" altLang="ko-KR" sz="3651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3651" b="1" dirty="0"/>
                <a:t>접속 방법</a:t>
              </a:r>
              <a:r>
                <a:rPr lang="en-US" altLang="ko-KR" sz="3651" b="1" dirty="0"/>
                <a:t>:</a:t>
              </a:r>
              <a:r>
                <a:rPr lang="ko-KR" altLang="en-US" sz="3651" dirty="0"/>
                <a:t> 지정된 </a:t>
              </a:r>
              <a:r>
                <a:rPr lang="en-US" altLang="ko-KR" sz="3651" dirty="0"/>
                <a:t>URL</a:t>
              </a:r>
              <a:r>
                <a:rPr lang="ko-KR" altLang="en-US" sz="3651" dirty="0"/>
                <a:t>로 접속</a:t>
              </a:r>
              <a:endParaRPr lang="en-US" altLang="ko-KR" sz="3651" dirty="0"/>
            </a:p>
            <a:p>
              <a:endParaRPr lang="ko-KR" altLang="en-US" sz="3651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3651" b="1" dirty="0"/>
                <a:t>로그인 절차</a:t>
              </a:r>
              <a:r>
                <a:rPr lang="en-US" altLang="ko-KR" sz="3651" b="1" dirty="0"/>
                <a:t>:</a:t>
              </a:r>
              <a:endParaRPr lang="ko-KR" altLang="en-US" sz="3651" dirty="0"/>
            </a:p>
            <a:p>
              <a:pPr marL="1170001" lvl="1" indent="-450000">
                <a:buFont typeface="Arial" panose="020B0604020202020204" pitchFamily="34" charset="0"/>
                <a:buChar char="•"/>
              </a:pPr>
              <a:r>
                <a:rPr lang="ko-KR" altLang="en-US" sz="3651" dirty="0"/>
                <a:t>본인의 사번</a:t>
              </a:r>
              <a:r>
                <a:rPr lang="en-US" altLang="ko-KR" sz="3651" dirty="0"/>
                <a:t>(ID)</a:t>
              </a:r>
              <a:r>
                <a:rPr lang="ko-KR" altLang="en-US" sz="3651" dirty="0"/>
                <a:t>과 비밀번호</a:t>
              </a:r>
              <a:r>
                <a:rPr lang="en-US" altLang="ko-KR" sz="3651" dirty="0"/>
                <a:t>(PW)</a:t>
              </a:r>
              <a:r>
                <a:rPr lang="ko-KR" altLang="en-US" sz="3651" dirty="0"/>
                <a:t>를 입력합니다</a:t>
              </a:r>
              <a:r>
                <a:rPr lang="en-US" altLang="ko-KR" sz="3651" dirty="0"/>
                <a:t>.</a:t>
              </a:r>
            </a:p>
            <a:p>
              <a:pPr marL="1170001" lvl="1" indent="-450000">
                <a:buFont typeface="Arial" panose="020B0604020202020204" pitchFamily="34" charset="0"/>
                <a:buChar char="•"/>
              </a:pPr>
              <a:r>
                <a:rPr lang="ko-KR" altLang="en-US" sz="3651" dirty="0">
                  <a:latin typeface="Courier New" panose="02070309020205020404" pitchFamily="49" charset="0"/>
                </a:rPr>
                <a:t>로그인</a:t>
              </a:r>
              <a:r>
                <a:rPr lang="ko-KR" altLang="en-US" sz="3651" dirty="0"/>
                <a:t> 버튼을 클릭합니다</a:t>
              </a:r>
              <a:r>
                <a:rPr lang="en-US" altLang="ko-KR" sz="3651" dirty="0"/>
                <a:t>.</a:t>
              </a:r>
            </a:p>
            <a:p>
              <a:pPr lvl="1"/>
              <a:endParaRPr lang="en-US" altLang="ko-KR" sz="3651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3651" b="1" dirty="0"/>
                <a:t>접속 권한 종류</a:t>
              </a:r>
              <a:r>
                <a:rPr lang="en-US" altLang="ko-KR" sz="3651" b="1" dirty="0"/>
                <a:t>:</a:t>
              </a:r>
              <a:endParaRPr lang="ko-KR" altLang="en-US" sz="3651" dirty="0"/>
            </a:p>
            <a:p>
              <a:pPr marL="1170001" lvl="1" indent="-450000">
                <a:buFont typeface="Arial" panose="020B0604020202020204" pitchFamily="34" charset="0"/>
                <a:buChar char="•"/>
              </a:pPr>
              <a:r>
                <a:rPr lang="ko-KR" altLang="en-US" sz="3651" b="1" dirty="0"/>
                <a:t>일반 사용자 </a:t>
              </a:r>
              <a:r>
                <a:rPr lang="en-US" altLang="ko-KR" sz="3651" b="1" dirty="0"/>
                <a:t>/ </a:t>
              </a:r>
              <a:r>
                <a:rPr lang="ko-KR" altLang="en-US" sz="3651" b="1" dirty="0"/>
                <a:t>관리자</a:t>
              </a:r>
              <a:r>
                <a:rPr lang="en-US" altLang="ko-KR" sz="3651" b="1" dirty="0"/>
                <a:t>:</a:t>
              </a:r>
              <a:r>
                <a:rPr lang="ko-KR" altLang="en-US" sz="3651" dirty="0"/>
                <a:t> 전체 기능 이용 가능</a:t>
              </a:r>
            </a:p>
            <a:p>
              <a:pPr marL="1170001" lvl="1" indent="-450000">
                <a:buFont typeface="Arial" panose="020B0604020202020204" pitchFamily="34" charset="0"/>
                <a:buChar char="•"/>
              </a:pPr>
              <a:r>
                <a:rPr lang="ko-KR" altLang="en-US" sz="3651" b="1" dirty="0"/>
                <a:t>게스트 </a:t>
              </a:r>
              <a:r>
                <a:rPr lang="en-US" altLang="ko-KR" sz="3651" b="1" dirty="0"/>
                <a:t>(Guest):</a:t>
              </a:r>
              <a:r>
                <a:rPr lang="ko-KR" altLang="en-US" sz="3651" dirty="0"/>
                <a:t> </a:t>
              </a:r>
              <a:r>
                <a:rPr lang="en-US" altLang="ko-KR" sz="3651" dirty="0"/>
                <a:t>'</a:t>
              </a:r>
              <a:r>
                <a:rPr lang="ko-KR" altLang="en-US" sz="3651" dirty="0"/>
                <a:t>재고 </a:t>
              </a:r>
              <a:r>
                <a:rPr lang="ko-KR" altLang="en-US" sz="3651" dirty="0" err="1"/>
                <a:t>현황판</a:t>
              </a:r>
              <a:r>
                <a:rPr lang="en-US" altLang="ko-KR" sz="3651" dirty="0"/>
                <a:t>' </a:t>
              </a:r>
              <a:r>
                <a:rPr lang="ko-KR" altLang="en-US" sz="3651" dirty="0"/>
                <a:t>및 </a:t>
              </a:r>
              <a:r>
                <a:rPr lang="en-US" altLang="ko-KR" sz="3651" dirty="0"/>
                <a:t>'</a:t>
              </a:r>
              <a:r>
                <a:rPr lang="ko-KR" altLang="en-US" sz="3651" dirty="0"/>
                <a:t>입출고 내역 조회</a:t>
              </a:r>
              <a:r>
                <a:rPr lang="en-US" altLang="ko-KR" sz="3651" dirty="0"/>
                <a:t>'</a:t>
              </a:r>
              <a:r>
                <a:rPr lang="ko-KR" altLang="en-US" sz="3651" dirty="0"/>
                <a:t>만 가능 </a:t>
              </a:r>
              <a:r>
                <a:rPr lang="en-US" altLang="ko-KR" sz="3651" dirty="0"/>
                <a:t>(</a:t>
              </a:r>
              <a:r>
                <a:rPr lang="ko-KR" altLang="en-US" sz="3651" dirty="0"/>
                <a:t>등록 및 수정 불가</a:t>
              </a:r>
              <a:r>
                <a:rPr lang="en-US" altLang="ko-KR" sz="3651" dirty="0"/>
                <a:t>)</a:t>
              </a:r>
            </a:p>
            <a:p>
              <a:pPr marL="1170001" lvl="1" indent="-450000">
                <a:buFont typeface="Arial" panose="020B0604020202020204" pitchFamily="34" charset="0"/>
                <a:buChar char="•"/>
              </a:pPr>
              <a:endParaRPr lang="en-US" altLang="ko-KR" sz="3651" dirty="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3BBDBF1-C52E-69FE-EF09-CD9385E70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77052"/>
              <a:ext cx="6858000" cy="14819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20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BF63CE-F965-1F09-9E2C-32374ED23334}"/>
              </a:ext>
            </a:extLst>
          </p:cNvPr>
          <p:cNvSpPr txBox="1"/>
          <p:nvPr/>
        </p:nvSpPr>
        <p:spPr>
          <a:xfrm>
            <a:off x="-3" y="1743538"/>
            <a:ext cx="10799763" cy="73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3651" b="1" dirty="0"/>
              <a:t>2. </a:t>
            </a:r>
            <a:r>
              <a:rPr lang="ko-KR" altLang="en-US" sz="3651" b="1" dirty="0"/>
              <a:t>재고 </a:t>
            </a:r>
            <a:r>
              <a:rPr lang="ko-KR" altLang="en-US" sz="3651" b="1" dirty="0" err="1"/>
              <a:t>현황판</a:t>
            </a:r>
            <a:r>
              <a:rPr lang="ko-KR" altLang="en-US" sz="3651" b="1" dirty="0"/>
              <a:t> </a:t>
            </a:r>
            <a:r>
              <a:rPr lang="en-US" altLang="ko-KR" sz="3651" b="1" dirty="0"/>
              <a:t>(</a:t>
            </a:r>
            <a:r>
              <a:rPr lang="ko-KR" altLang="en-US" sz="3651" b="1" dirty="0"/>
              <a:t>조회 및 명세서 출력</a:t>
            </a:r>
            <a:r>
              <a:rPr lang="en-US" altLang="ko-KR" sz="3651" b="1" dirty="0"/>
              <a:t>)</a:t>
            </a:r>
          </a:p>
          <a:p>
            <a:pPr>
              <a:buNone/>
            </a:pPr>
            <a:endParaRPr lang="en-US" altLang="ko-KR" sz="3651" b="1" dirty="0"/>
          </a:p>
          <a:p>
            <a:pPr>
              <a:buNone/>
            </a:pPr>
            <a:r>
              <a:rPr lang="ko-KR" altLang="en-US" sz="3651" dirty="0"/>
              <a:t>센터에 보유 중인 전체 자재의 실시간 재고량과 자산 금액을 확인할 수 있습니다</a:t>
            </a:r>
            <a:r>
              <a:rPr lang="en-US" altLang="ko-KR" sz="3651" dirty="0"/>
              <a:t>.</a:t>
            </a:r>
          </a:p>
          <a:p>
            <a:pPr>
              <a:buNone/>
            </a:pPr>
            <a:endParaRPr lang="en-US" altLang="ko-KR" sz="3651" dirty="0"/>
          </a:p>
          <a:p>
            <a:pPr>
              <a:buNone/>
            </a:pPr>
            <a:r>
              <a:rPr lang="ko-KR" altLang="en-US" sz="3651" b="1" dirty="0"/>
              <a:t>① 통합 검색 및 필터링</a:t>
            </a:r>
            <a:endParaRPr lang="en-US" altLang="ko-KR" sz="3651" b="1" dirty="0"/>
          </a:p>
          <a:p>
            <a:pPr>
              <a:buNone/>
            </a:pPr>
            <a:endParaRPr lang="ko-KR" altLang="en-US" sz="3651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b="1" dirty="0"/>
              <a:t>통합 검색</a:t>
            </a:r>
            <a:r>
              <a:rPr lang="en-US" altLang="ko-KR" sz="3651" b="1" dirty="0"/>
              <a:t>:</a:t>
            </a:r>
            <a:r>
              <a:rPr lang="ko-KR" altLang="en-US" sz="3651" dirty="0"/>
              <a:t> 검색창에 </a:t>
            </a:r>
            <a:r>
              <a:rPr lang="ko-KR" altLang="en-US" sz="3651" b="1" dirty="0">
                <a:highlight>
                  <a:srgbClr val="CCFF33"/>
                </a:highlight>
              </a:rPr>
              <a:t>품목코드</a:t>
            </a:r>
            <a:r>
              <a:rPr lang="en-US" altLang="ko-KR" sz="3651" b="1" dirty="0">
                <a:highlight>
                  <a:srgbClr val="CCFF33"/>
                </a:highlight>
              </a:rPr>
              <a:t>, </a:t>
            </a:r>
            <a:r>
              <a:rPr lang="ko-KR" altLang="en-US" sz="3651" b="1" dirty="0">
                <a:highlight>
                  <a:srgbClr val="CCFF33"/>
                </a:highlight>
              </a:rPr>
              <a:t>품명</a:t>
            </a:r>
            <a:r>
              <a:rPr lang="en-US" altLang="ko-KR" sz="3651" b="1" dirty="0">
                <a:highlight>
                  <a:srgbClr val="CCFF33"/>
                </a:highlight>
              </a:rPr>
              <a:t>, </a:t>
            </a:r>
            <a:r>
              <a:rPr lang="ko-KR" altLang="en-US" sz="3651" b="1" dirty="0">
                <a:highlight>
                  <a:srgbClr val="CCFF33"/>
                </a:highlight>
              </a:rPr>
              <a:t>상세번호</a:t>
            </a:r>
            <a:r>
              <a:rPr lang="en-US" altLang="ko-KR" sz="3651" b="1" dirty="0">
                <a:highlight>
                  <a:srgbClr val="CCFF33"/>
                </a:highlight>
              </a:rPr>
              <a:t>, </a:t>
            </a:r>
            <a:r>
              <a:rPr lang="ko-KR" altLang="en-US" sz="3651" b="1" dirty="0">
                <a:highlight>
                  <a:srgbClr val="CCFF33"/>
                </a:highlight>
              </a:rPr>
              <a:t>규격</a:t>
            </a:r>
            <a:r>
              <a:rPr lang="en-US" altLang="ko-KR" sz="3651" b="1" dirty="0">
                <a:highlight>
                  <a:srgbClr val="CCFF33"/>
                </a:highlight>
              </a:rPr>
              <a:t>/</a:t>
            </a:r>
            <a:r>
              <a:rPr lang="ko-KR" altLang="en-US" sz="3651" b="1" dirty="0">
                <a:highlight>
                  <a:srgbClr val="CCFF33"/>
                </a:highlight>
              </a:rPr>
              <a:t>모델</a:t>
            </a:r>
            <a:r>
              <a:rPr lang="en-US" altLang="ko-KR" sz="3651" b="1" dirty="0">
                <a:highlight>
                  <a:srgbClr val="CCFF33"/>
                </a:highlight>
              </a:rPr>
              <a:t>, </a:t>
            </a:r>
            <a:r>
              <a:rPr lang="ko-KR" altLang="en-US" sz="3651" b="1" dirty="0">
                <a:highlight>
                  <a:srgbClr val="CCFF33"/>
                </a:highlight>
              </a:rPr>
              <a:t>비고</a:t>
            </a:r>
            <a:r>
              <a:rPr lang="ko-KR" altLang="en-US" sz="3651" dirty="0">
                <a:highlight>
                  <a:srgbClr val="CCFF33"/>
                </a:highlight>
              </a:rPr>
              <a:t> </a:t>
            </a:r>
            <a:r>
              <a:rPr lang="ko-KR" altLang="en-US" sz="3651" dirty="0"/>
              <a:t>등을 입력하면 특수문자</a:t>
            </a:r>
            <a:r>
              <a:rPr lang="en-US" altLang="ko-KR" sz="3651" dirty="0"/>
              <a:t>/</a:t>
            </a:r>
            <a:r>
              <a:rPr lang="ko-KR" altLang="en-US" sz="3651" dirty="0"/>
              <a:t>괄호 구분 없이 즉시 조회됩니다</a:t>
            </a:r>
            <a:r>
              <a:rPr lang="en-US" altLang="ko-KR" sz="3651" dirty="0"/>
              <a:t>.</a:t>
            </a:r>
          </a:p>
          <a:p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b="1" dirty="0"/>
              <a:t>상세 필터</a:t>
            </a:r>
            <a:r>
              <a:rPr lang="en-US" altLang="ko-KR" sz="3651" b="1" dirty="0"/>
              <a:t>:</a:t>
            </a:r>
            <a:r>
              <a:rPr lang="ko-KR" altLang="en-US" sz="3651" dirty="0"/>
              <a:t> 입고일</a:t>
            </a:r>
            <a:r>
              <a:rPr lang="en-US" altLang="ko-KR" sz="3651" dirty="0"/>
              <a:t>, </a:t>
            </a:r>
            <a:r>
              <a:rPr lang="ko-KR" altLang="en-US" sz="3651" dirty="0"/>
              <a:t>재고 수량 범주</a:t>
            </a:r>
            <a:r>
              <a:rPr lang="en-US" altLang="ko-KR" sz="3651" dirty="0"/>
              <a:t>, </a:t>
            </a:r>
            <a:r>
              <a:rPr lang="ko-KR" altLang="en-US" sz="3651" dirty="0" err="1"/>
              <a:t>기기명</a:t>
            </a:r>
            <a:r>
              <a:rPr lang="en-US" altLang="ko-KR" sz="3651" dirty="0"/>
              <a:t>, Maker, </a:t>
            </a:r>
            <a:r>
              <a:rPr lang="ko-KR" altLang="en-US" sz="3651" dirty="0"/>
              <a:t>대분류별로 원하는 조건만 선별해 볼 수 있습니다</a:t>
            </a:r>
            <a:r>
              <a:rPr lang="en-US" altLang="ko-KR" sz="3651" dirty="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A1C565-7B6C-1BB7-E3DB-94DB282D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" y="9422936"/>
            <a:ext cx="10799763" cy="440364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C5D1FC7-11BA-3013-B7F0-5351842AED47}"/>
              </a:ext>
            </a:extLst>
          </p:cNvPr>
          <p:cNvSpPr/>
          <p:nvPr/>
        </p:nvSpPr>
        <p:spPr>
          <a:xfrm>
            <a:off x="99995" y="10714779"/>
            <a:ext cx="3059932" cy="1153760"/>
          </a:xfrm>
          <a:prstGeom prst="rect">
            <a:avLst/>
          </a:prstGeom>
          <a:noFill/>
          <a:ln w="38100">
            <a:solidFill>
              <a:srgbClr val="CCFF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51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50C763-8F98-AD5C-A8C9-BDD344349513}"/>
              </a:ext>
            </a:extLst>
          </p:cNvPr>
          <p:cNvSpPr/>
          <p:nvPr/>
        </p:nvSpPr>
        <p:spPr>
          <a:xfrm>
            <a:off x="189992" y="13206594"/>
            <a:ext cx="10529769" cy="619987"/>
          </a:xfrm>
          <a:prstGeom prst="rect">
            <a:avLst/>
          </a:prstGeom>
          <a:noFill/>
          <a:ln w="38100">
            <a:solidFill>
              <a:srgbClr val="CCFF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51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9AF947D-3B98-259E-2785-59763918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16939"/>
            <a:ext cx="10799763" cy="13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5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EC6B2F-7503-48F5-433E-B43AEB99909A}"/>
              </a:ext>
            </a:extLst>
          </p:cNvPr>
          <p:cNvSpPr txBox="1"/>
          <p:nvPr/>
        </p:nvSpPr>
        <p:spPr>
          <a:xfrm>
            <a:off x="-1" y="2618723"/>
            <a:ext cx="10799763" cy="2031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>
                <a:highlight>
                  <a:srgbClr val="CCFF33"/>
                </a:highlight>
              </a:rPr>
              <a:t>품목코드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품목코드는 각 품목에 부여된 </a:t>
            </a:r>
            <a:r>
              <a:rPr lang="ko-KR" altLang="en-US" sz="3651" dirty="0">
                <a:highlight>
                  <a:srgbClr val="CCFF33"/>
                </a:highlight>
              </a:rPr>
              <a:t>개별 </a:t>
            </a:r>
            <a:r>
              <a:rPr lang="en-US" altLang="ko-KR" sz="3651" dirty="0">
                <a:highlight>
                  <a:srgbClr val="CCFF33"/>
                </a:highlight>
              </a:rPr>
              <a:t>ID </a:t>
            </a:r>
            <a:r>
              <a:rPr lang="ko-KR" altLang="en-US" sz="3651" dirty="0"/>
              <a:t>입니다</a:t>
            </a:r>
            <a:r>
              <a:rPr lang="en-US" altLang="ko-KR" sz="3651" dirty="0"/>
              <a:t>. </a:t>
            </a:r>
            <a:r>
              <a:rPr lang="ko-KR" altLang="en-US" sz="3651" dirty="0"/>
              <a:t>중복이 없는 데이터이기에</a:t>
            </a:r>
            <a:r>
              <a:rPr lang="en-US" altLang="ko-KR" sz="3651" dirty="0"/>
              <a:t>, </a:t>
            </a:r>
            <a:r>
              <a:rPr lang="ko-KR" altLang="en-US" sz="3651" dirty="0" err="1"/>
              <a:t>검색값이</a:t>
            </a:r>
            <a:r>
              <a:rPr lang="ko-KR" altLang="en-US" sz="3651" dirty="0"/>
              <a:t> </a:t>
            </a:r>
            <a:r>
              <a:rPr lang="ko-KR" altLang="en-US" sz="3651" dirty="0">
                <a:highlight>
                  <a:srgbClr val="CCFF33"/>
                </a:highlight>
              </a:rPr>
              <a:t>가장 정확</a:t>
            </a:r>
            <a:r>
              <a:rPr lang="ko-KR" altLang="en-US" sz="3651" dirty="0"/>
              <a:t>합니다</a:t>
            </a:r>
            <a:r>
              <a:rPr lang="en-US" altLang="ko-KR" sz="3651" dirty="0"/>
              <a:t>. </a:t>
            </a:r>
            <a:r>
              <a:rPr lang="ko-KR" altLang="en-US" sz="3651" dirty="0"/>
              <a:t>트러스트에 전달한 자료에도 품목코드가 부여된 자료를 전달하여</a:t>
            </a:r>
            <a:r>
              <a:rPr lang="en-US" altLang="ko-KR" sz="3651" dirty="0"/>
              <a:t>, </a:t>
            </a:r>
            <a:r>
              <a:rPr lang="ko-KR" altLang="en-US" sz="3651" dirty="0"/>
              <a:t>추후 반출요청시 품목코드를 활용하여 품목을 찾으시는 것을 </a:t>
            </a:r>
            <a:r>
              <a:rPr lang="ko-KR" altLang="en-US" sz="3651" dirty="0" err="1"/>
              <a:t>추천드립니다</a:t>
            </a:r>
            <a:r>
              <a:rPr lang="en-US" altLang="ko-KR" sz="3651" dirty="0"/>
              <a:t>. </a:t>
            </a:r>
            <a:r>
              <a:rPr lang="ko-KR" altLang="en-US" sz="3651" dirty="0" err="1"/>
              <a:t>검색시</a:t>
            </a:r>
            <a:r>
              <a:rPr lang="ko-KR" altLang="en-US" sz="3651" dirty="0"/>
              <a:t> </a:t>
            </a:r>
            <a:r>
              <a:rPr lang="ko-KR" altLang="en-US" sz="3651" dirty="0">
                <a:highlight>
                  <a:srgbClr val="CCFF33"/>
                </a:highlight>
              </a:rPr>
              <a:t>숫자 </a:t>
            </a:r>
            <a:r>
              <a:rPr lang="en-US" altLang="ko-KR" sz="3651" dirty="0">
                <a:highlight>
                  <a:srgbClr val="CCFF33"/>
                </a:highlight>
              </a:rPr>
              <a:t>5</a:t>
            </a:r>
            <a:r>
              <a:rPr lang="ko-KR" altLang="en-US" sz="3651" dirty="0">
                <a:highlight>
                  <a:srgbClr val="CCFF33"/>
                </a:highlight>
              </a:rPr>
              <a:t>자리 전부 입력</a:t>
            </a:r>
            <a:r>
              <a:rPr lang="ko-KR" altLang="en-US" sz="3651" dirty="0"/>
              <a:t>하여 검색하는 것이 좋습니다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dirty="0"/>
              <a:t> </a:t>
            </a:r>
            <a:r>
              <a:rPr lang="ko-KR" altLang="en-US" sz="3651" b="1" dirty="0"/>
              <a:t>품명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품목의 명칭입니다</a:t>
            </a:r>
            <a:r>
              <a:rPr lang="en-US" altLang="ko-KR" sz="3651" dirty="0"/>
              <a:t>. </a:t>
            </a:r>
            <a:r>
              <a:rPr lang="ko-KR" altLang="en-US" sz="3651" dirty="0" err="1"/>
              <a:t>검색시</a:t>
            </a:r>
            <a:r>
              <a:rPr lang="ko-KR" altLang="en-US" sz="3651" dirty="0"/>
              <a:t> 대</a:t>
            </a:r>
            <a:r>
              <a:rPr lang="en-US" altLang="ko-KR" sz="3651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3651" dirty="0"/>
              <a:t>소문자는 구분하지 않습니다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>
                <a:highlight>
                  <a:srgbClr val="CCFF33"/>
                </a:highlight>
              </a:rPr>
              <a:t>상세번호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 err="1"/>
              <a:t>제조사측에서</a:t>
            </a:r>
            <a:r>
              <a:rPr lang="ko-KR" altLang="en-US" sz="3651" dirty="0"/>
              <a:t> 품목에 부여한 고유번호 입니다</a:t>
            </a:r>
            <a:r>
              <a:rPr lang="en-US" altLang="ko-KR" sz="3651" dirty="0"/>
              <a:t>. </a:t>
            </a:r>
            <a:r>
              <a:rPr lang="ko-KR" altLang="en-US" sz="3651" dirty="0"/>
              <a:t>같은 제품일지라도 제조국에 따라 상세번호가 다른 등 변수가 있을 수 있습니다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>
                <a:highlight>
                  <a:srgbClr val="CCFF33"/>
                </a:highlight>
              </a:rPr>
              <a:t>규격</a:t>
            </a:r>
            <a:r>
              <a:rPr lang="en-US" altLang="ko-KR" sz="3651" b="1" dirty="0">
                <a:highlight>
                  <a:srgbClr val="CCFF33"/>
                </a:highlight>
              </a:rPr>
              <a:t>/</a:t>
            </a:r>
            <a:r>
              <a:rPr lang="ko-KR" altLang="en-US" sz="3651" b="1" dirty="0">
                <a:highlight>
                  <a:srgbClr val="CCFF33"/>
                </a:highlight>
              </a:rPr>
              <a:t>모델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상품별 규격 혹은 모델명을 입력한 데이터 입니다</a:t>
            </a:r>
            <a:r>
              <a:rPr lang="en-US" altLang="ko-KR" sz="3651" dirty="0"/>
              <a:t>. </a:t>
            </a:r>
            <a:r>
              <a:rPr lang="ko-KR" altLang="en-US" sz="3651" dirty="0" err="1"/>
              <a:t>검색시</a:t>
            </a:r>
            <a:r>
              <a:rPr lang="ko-KR" altLang="en-US" sz="3651" dirty="0"/>
              <a:t> 특수문자로 인해 정확한 검색결과를 얻지 못할 수 있습니다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/>
              <a:t>구분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상품 </a:t>
            </a:r>
            <a:r>
              <a:rPr lang="ko-KR" altLang="en-US" sz="3651" dirty="0" err="1"/>
              <a:t>입고시</a:t>
            </a:r>
            <a:r>
              <a:rPr lang="ko-KR" altLang="en-US" sz="3651" dirty="0"/>
              <a:t> 구분을 위해 부여하는 임시 번호 입니다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/>
              <a:t>분류체계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상품을 보관중인 </a:t>
            </a:r>
            <a:r>
              <a:rPr lang="ko-KR" altLang="en-US" sz="3651" dirty="0" err="1"/>
              <a:t>렉</a:t>
            </a:r>
            <a:r>
              <a:rPr lang="ko-KR" altLang="en-US" sz="3651" dirty="0"/>
              <a:t> 선반의 위치 입니다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 err="1"/>
              <a:t>기기명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품목이 설치되는 자동화 설비의 명칭 입니다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en-US" altLang="ko-KR" sz="3651" b="1" dirty="0"/>
              <a:t>Maker</a:t>
            </a:r>
            <a:r>
              <a:rPr lang="en-US" altLang="ko-KR" sz="3651" dirty="0"/>
              <a:t> : </a:t>
            </a:r>
            <a:r>
              <a:rPr lang="ko-KR" altLang="en-US" sz="3651" dirty="0"/>
              <a:t>품목을 제조 혹은 유통하는 회사의 명칭 입니다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/>
              <a:t>원화환산액</a:t>
            </a:r>
            <a:r>
              <a:rPr lang="ko-KR" altLang="en-US" sz="3651" dirty="0"/>
              <a:t> </a:t>
            </a:r>
            <a:r>
              <a:rPr lang="en-US" altLang="ko-KR" sz="3651" dirty="0"/>
              <a:t>:  </a:t>
            </a:r>
            <a:r>
              <a:rPr lang="ko-KR" altLang="en-US" sz="3651" dirty="0"/>
              <a:t>입고되는 품목이 수입되는 경우</a:t>
            </a:r>
            <a:r>
              <a:rPr lang="en-US" altLang="ko-KR" sz="3651" dirty="0"/>
              <a:t>, </a:t>
            </a:r>
            <a:r>
              <a:rPr lang="ko-KR" altLang="en-US" sz="3651" dirty="0"/>
              <a:t>외화로 결제된 품목의 단가를 환율을 적용하여 원화로 환산한 금액을 의미합니다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 </a:t>
            </a:r>
            <a:r>
              <a:rPr lang="ko-KR" altLang="en-US" sz="3651" b="1" dirty="0"/>
              <a:t>재고금액</a:t>
            </a:r>
            <a:r>
              <a:rPr lang="ko-KR" altLang="en-US" sz="3651" dirty="0"/>
              <a:t> </a:t>
            </a:r>
            <a:r>
              <a:rPr lang="en-US" altLang="ko-KR" sz="3651" dirty="0"/>
              <a:t>: </a:t>
            </a:r>
            <a:r>
              <a:rPr lang="ko-KR" altLang="en-US" sz="3651" dirty="0"/>
              <a:t>품목의 수량 </a:t>
            </a:r>
            <a:r>
              <a:rPr lang="en-US" altLang="ko-KR" sz="3651" dirty="0"/>
              <a:t>X </a:t>
            </a:r>
            <a:r>
              <a:rPr lang="ko-KR" altLang="en-US" sz="3651" dirty="0"/>
              <a:t>원화환산액 의 금액입니다</a:t>
            </a:r>
            <a:r>
              <a:rPr lang="en-US" altLang="ko-KR" sz="3651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D4A0DA-A914-A357-16F0-8F9DD534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57774"/>
            <a:ext cx="10799763" cy="1343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3A313B-1290-2092-DE7E-3B0F0086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85426"/>
            <a:ext cx="10799763" cy="150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4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2641F7-FE98-404A-2DA6-0C2DA1BA2852}"/>
              </a:ext>
            </a:extLst>
          </p:cNvPr>
          <p:cNvSpPr txBox="1"/>
          <p:nvPr/>
        </p:nvSpPr>
        <p:spPr>
          <a:xfrm>
            <a:off x="-1" y="1038757"/>
            <a:ext cx="10799763" cy="851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51" b="1" dirty="0"/>
              <a:t>② 자재품목명세서 </a:t>
            </a:r>
            <a:r>
              <a:rPr lang="en-US" altLang="ko-KR" sz="3651" b="1" dirty="0"/>
              <a:t>(</a:t>
            </a:r>
            <a:r>
              <a:rPr lang="en-US" altLang="ko-KR" sz="3651" b="1" dirty="0" err="1"/>
              <a:t>A4</a:t>
            </a:r>
            <a:r>
              <a:rPr lang="en-US" altLang="ko-KR" sz="3651" b="1" dirty="0"/>
              <a:t> </a:t>
            </a:r>
            <a:r>
              <a:rPr lang="ko-KR" altLang="en-US" sz="3651" b="1" dirty="0"/>
              <a:t>카드</a:t>
            </a:r>
            <a:r>
              <a:rPr lang="en-US" altLang="ko-KR" sz="3651" b="1" dirty="0"/>
              <a:t>) </a:t>
            </a:r>
            <a:r>
              <a:rPr lang="ko-KR" altLang="en-US" sz="3651" b="1" dirty="0"/>
              <a:t>조회 및 인쇄</a:t>
            </a:r>
            <a:endParaRPr lang="en-US" altLang="ko-KR" sz="3651" b="1" dirty="0"/>
          </a:p>
          <a:p>
            <a:pPr>
              <a:buNone/>
            </a:pPr>
            <a:endParaRPr lang="ko-KR" altLang="en-US" sz="3651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dirty="0"/>
              <a:t> 목록에서 특정 품목을 </a:t>
            </a:r>
            <a:r>
              <a:rPr lang="ko-KR" altLang="en-US" sz="3651" dirty="0">
                <a:highlight>
                  <a:srgbClr val="CCFF33"/>
                </a:highlight>
              </a:rPr>
              <a:t>클릭</a:t>
            </a:r>
            <a:r>
              <a:rPr lang="ko-KR" altLang="en-US" sz="3651" dirty="0"/>
              <a:t>하면 하단에 </a:t>
            </a:r>
            <a:r>
              <a:rPr lang="ko-KR" altLang="en-US" sz="3651" b="1" dirty="0"/>
              <a:t>자재품목명세서 카드</a:t>
            </a:r>
            <a:r>
              <a:rPr lang="ko-KR" altLang="en-US" sz="3651" dirty="0"/>
              <a:t>가 생성됩니다</a:t>
            </a:r>
            <a:r>
              <a:rPr lang="en-US" altLang="ko-KR" sz="3651" dirty="0"/>
              <a:t>.</a:t>
            </a:r>
            <a:endParaRPr lang="en-US" altLang="ko-KR" sz="3651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b="1" dirty="0"/>
              <a:t> 기간 필터</a:t>
            </a:r>
            <a:r>
              <a:rPr lang="en-US" altLang="ko-KR" sz="3651" b="1" dirty="0"/>
              <a:t>(3</a:t>
            </a:r>
            <a:r>
              <a:rPr lang="ko-KR" altLang="en-US" sz="3651" b="1" dirty="0"/>
              <a:t>개월</a:t>
            </a:r>
            <a:r>
              <a:rPr lang="en-US" altLang="ko-KR" sz="3651" b="1" dirty="0"/>
              <a:t>, 6</a:t>
            </a:r>
            <a:r>
              <a:rPr lang="ko-KR" altLang="en-US" sz="3651" b="1" dirty="0"/>
              <a:t>개월</a:t>
            </a:r>
            <a:r>
              <a:rPr lang="en-US" altLang="ko-KR" sz="3651" b="1" dirty="0"/>
              <a:t>, 1</a:t>
            </a:r>
            <a:r>
              <a:rPr lang="ko-KR" altLang="en-US" sz="3651" b="1" dirty="0"/>
              <a:t>년 등</a:t>
            </a:r>
            <a:r>
              <a:rPr lang="en-US" altLang="ko-KR" sz="3651" b="1" dirty="0"/>
              <a:t>):</a:t>
            </a:r>
            <a:r>
              <a:rPr lang="ko-KR" altLang="en-US" sz="3651" dirty="0"/>
              <a:t> 원하는 기간 동안의 입고</a:t>
            </a:r>
            <a:r>
              <a:rPr lang="en-US" altLang="ko-KR" sz="3651" dirty="0"/>
              <a:t>/</a:t>
            </a:r>
            <a:r>
              <a:rPr lang="ko-KR" altLang="en-US" sz="3651" dirty="0"/>
              <a:t>출고 합계 수량 및 금액을 자동 계산합니다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b="1" dirty="0"/>
              <a:t> 🖨️ 명세서 인쇄</a:t>
            </a:r>
            <a:r>
              <a:rPr lang="en-US" altLang="ko-KR" sz="3651" b="1" dirty="0"/>
              <a:t>/PDF </a:t>
            </a:r>
            <a:r>
              <a:rPr lang="ko-KR" altLang="en-US" sz="3651" b="1" dirty="0"/>
              <a:t>저장</a:t>
            </a:r>
            <a:r>
              <a:rPr lang="en-US" altLang="ko-KR" sz="3651" b="1" dirty="0"/>
              <a:t>:</a:t>
            </a:r>
            <a:r>
              <a:rPr lang="ko-KR" altLang="en-US" sz="3651" dirty="0"/>
              <a:t> 버튼을 누르면 </a:t>
            </a:r>
            <a:r>
              <a:rPr lang="en-US" altLang="ko-KR" sz="3651" dirty="0" err="1"/>
              <a:t>A4</a:t>
            </a:r>
            <a:r>
              <a:rPr lang="en-US" altLang="ko-KR" sz="3651" dirty="0"/>
              <a:t> </a:t>
            </a:r>
            <a:r>
              <a:rPr lang="ko-KR" altLang="en-US" sz="3651" dirty="0"/>
              <a:t>규격의 깔끔한 명세서 출력 창이 열립니다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pPr>
              <a:buNone/>
            </a:pPr>
            <a:r>
              <a:rPr lang="ko-KR" altLang="en-US" sz="3651" b="1" dirty="0"/>
              <a:t>③ 전체 품목 엑셀 다운로드</a:t>
            </a:r>
            <a:endParaRPr lang="en-US" altLang="ko-KR" sz="3651" b="1" dirty="0"/>
          </a:p>
          <a:p>
            <a:pPr>
              <a:buNone/>
            </a:pPr>
            <a:endParaRPr lang="ko-KR" altLang="en-US" sz="3651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651" dirty="0"/>
              <a:t>DB</a:t>
            </a:r>
            <a:r>
              <a:rPr lang="ko-KR" altLang="en-US" sz="3651" dirty="0"/>
              <a:t>에 저장된 전체 품목 내역을 엑셀로 다운로드 합니다</a:t>
            </a:r>
            <a:r>
              <a:rPr lang="en-US" altLang="ko-KR" sz="3651" dirty="0"/>
              <a:t>. </a:t>
            </a:r>
            <a:r>
              <a:rPr lang="ko-KR" altLang="en-US" sz="3651" dirty="0"/>
              <a:t>재고조사시 자료로 활용할 수 있습니다</a:t>
            </a:r>
            <a:r>
              <a:rPr lang="en-US" altLang="ko-KR" sz="3651" dirty="0"/>
              <a:t>.</a:t>
            </a:r>
          </a:p>
          <a:p>
            <a:endParaRPr lang="en-US" altLang="ko-KR" sz="365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927B81-6A1E-7876-6584-6BC7E6903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519555"/>
            <a:ext cx="10799763" cy="13432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BBEB0F4-5373-93AD-F7E7-C1DA12EBD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318" y="9558397"/>
            <a:ext cx="3780444" cy="990116"/>
          </a:xfrm>
          <a:prstGeom prst="rect">
            <a:avLst/>
          </a:prstGeom>
        </p:spPr>
      </p:pic>
      <p:pic>
        <p:nvPicPr>
          <p:cNvPr id="7" name="그래픽 6" descr="커서">
            <a:extLst>
              <a:ext uri="{FF2B5EF4-FFF2-40B4-BE49-F238E27FC236}">
                <a16:creationId xmlns:a16="http://schemas.microsoft.com/office/drawing/2014/main" id="{F50313B2-E540-0E40-AF4E-CF1443B1D9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20" y="10103539"/>
            <a:ext cx="660088" cy="6600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33CFF54-CC30-1ED2-8605-5C3170653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9702721"/>
            <a:ext cx="7019318" cy="469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6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D4A821-3838-FE2D-EFD2-4F1ADF5EE67A}"/>
              </a:ext>
            </a:extLst>
          </p:cNvPr>
          <p:cNvSpPr txBox="1"/>
          <p:nvPr/>
        </p:nvSpPr>
        <p:spPr>
          <a:xfrm>
            <a:off x="-1" y="2619192"/>
            <a:ext cx="10799763" cy="10205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3651" b="1" dirty="0"/>
              <a:t>3. </a:t>
            </a:r>
            <a:r>
              <a:rPr lang="ko-KR" altLang="en-US" sz="3651" b="1" dirty="0"/>
              <a:t>자재 입출고 등록</a:t>
            </a:r>
          </a:p>
          <a:p>
            <a:pPr>
              <a:buNone/>
            </a:pPr>
            <a:r>
              <a:rPr lang="en-US" altLang="ko-KR" sz="3651" dirty="0"/>
              <a:t>DB</a:t>
            </a:r>
            <a:r>
              <a:rPr lang="ko-KR" altLang="en-US" sz="3651" dirty="0"/>
              <a:t>에 저장되어 있는 자재의 입고 및 출고 처리를 진행합니다</a:t>
            </a:r>
            <a:r>
              <a:rPr lang="en-US" altLang="ko-KR" sz="3651" dirty="0"/>
              <a:t>. </a:t>
            </a:r>
            <a:r>
              <a:rPr lang="ko-KR" altLang="en-US" sz="3651" b="1" dirty="0">
                <a:highlight>
                  <a:srgbClr val="CCFF33"/>
                </a:highlight>
              </a:rPr>
              <a:t>품목코드</a:t>
            </a:r>
            <a:r>
              <a:rPr lang="ko-KR" altLang="en-US" sz="3651" dirty="0">
                <a:highlight>
                  <a:srgbClr val="CCFF33"/>
                </a:highlight>
              </a:rPr>
              <a:t>를 기준</a:t>
            </a:r>
            <a:r>
              <a:rPr lang="ko-KR" altLang="en-US" sz="3651" dirty="0"/>
              <a:t>으로 </a:t>
            </a:r>
            <a:r>
              <a:rPr lang="ko-KR" altLang="en-US" sz="3651" dirty="0" err="1"/>
              <a:t>등록하는것을</a:t>
            </a:r>
            <a:r>
              <a:rPr lang="ko-KR" altLang="en-US" sz="3651" dirty="0"/>
              <a:t> </a:t>
            </a:r>
            <a:r>
              <a:rPr lang="ko-KR" altLang="en-US" sz="3651" dirty="0" err="1"/>
              <a:t>추천드립니다</a:t>
            </a:r>
            <a:r>
              <a:rPr lang="en-US" altLang="ko-KR" sz="3651" dirty="0"/>
              <a:t>.</a:t>
            </a:r>
          </a:p>
          <a:p>
            <a:pPr>
              <a:buNone/>
            </a:pPr>
            <a:endParaRPr lang="en-US" altLang="ko-KR" sz="3651" dirty="0"/>
          </a:p>
          <a:p>
            <a:pPr>
              <a:buNone/>
            </a:pPr>
            <a:r>
              <a:rPr lang="ko-KR" altLang="en-US" sz="3651" b="1" dirty="0"/>
              <a:t>① 신규 입출고 등록</a:t>
            </a:r>
          </a:p>
          <a:p>
            <a:pPr marL="540000" indent="-540000">
              <a:buFont typeface="+mj-lt"/>
              <a:buAutoNum type="arabicParenR"/>
            </a:pPr>
            <a:r>
              <a:rPr lang="ko-KR" altLang="en-US" sz="3651" b="1" dirty="0"/>
              <a:t>대상 품목 검색</a:t>
            </a:r>
            <a:r>
              <a:rPr lang="en-US" altLang="ko-KR" sz="3651" b="1" dirty="0"/>
              <a:t>:</a:t>
            </a:r>
            <a:r>
              <a:rPr lang="ko-KR" altLang="en-US" sz="3651" dirty="0"/>
              <a:t> 상단 검색창에서 대상 품목을 선택합니다</a:t>
            </a:r>
            <a:r>
              <a:rPr lang="en-US" altLang="ko-KR" sz="3651" dirty="0"/>
              <a:t>.</a:t>
            </a:r>
          </a:p>
          <a:p>
            <a:pPr>
              <a:buFont typeface="+mj-lt"/>
              <a:buAutoNum type="arabicParenR"/>
            </a:pPr>
            <a:r>
              <a:rPr lang="ko-KR" altLang="en-US" sz="3651" b="1" dirty="0"/>
              <a:t>   구분 선택</a:t>
            </a:r>
            <a:r>
              <a:rPr lang="en-US" altLang="ko-KR" sz="3651" b="1" dirty="0"/>
              <a:t>:</a:t>
            </a:r>
            <a:r>
              <a:rPr lang="ko-KR" altLang="en-US" sz="3651" dirty="0"/>
              <a:t> </a:t>
            </a:r>
            <a:r>
              <a:rPr lang="ko-KR" altLang="en-US" sz="3651" b="1" dirty="0">
                <a:highlight>
                  <a:srgbClr val="CCFF33"/>
                </a:highlight>
                <a:latin typeface="Courier New" panose="02070309020205020404" pitchFamily="49" charset="0"/>
              </a:rPr>
              <a:t>입고</a:t>
            </a:r>
            <a:r>
              <a:rPr lang="en-US" altLang="ko-KR" sz="3651" dirty="0"/>
              <a:t> </a:t>
            </a:r>
            <a:r>
              <a:rPr lang="ko-KR" altLang="en-US" sz="3651" dirty="0"/>
              <a:t>또는 </a:t>
            </a:r>
            <a:r>
              <a:rPr lang="ko-KR" altLang="en-US" sz="3651" b="1" dirty="0">
                <a:highlight>
                  <a:srgbClr val="CCFF33"/>
                </a:highlight>
                <a:latin typeface="Courier New" panose="02070309020205020404" pitchFamily="49" charset="0"/>
              </a:rPr>
              <a:t>출고</a:t>
            </a:r>
            <a:r>
              <a:rPr lang="en-US" altLang="ko-KR" sz="3651" dirty="0"/>
              <a:t> </a:t>
            </a:r>
            <a:r>
              <a:rPr lang="ko-KR" altLang="en-US" sz="3651" dirty="0"/>
              <a:t>버튼을 선택합니다</a:t>
            </a:r>
            <a:r>
              <a:rPr lang="en-US" altLang="ko-KR" sz="3651" dirty="0"/>
              <a:t>.</a:t>
            </a:r>
          </a:p>
          <a:p>
            <a:pPr>
              <a:buFont typeface="+mj-lt"/>
              <a:buAutoNum type="arabicParenR"/>
            </a:pPr>
            <a:r>
              <a:rPr lang="ko-KR" altLang="en-US" sz="3651" b="1" dirty="0"/>
              <a:t>   정보 입력</a:t>
            </a:r>
            <a:r>
              <a:rPr lang="en-US" altLang="ko-KR" sz="3651" b="1" dirty="0"/>
              <a:t>:</a:t>
            </a:r>
            <a:r>
              <a:rPr lang="ko-KR" altLang="en-US" sz="3651" dirty="0"/>
              <a:t> 일자</a:t>
            </a:r>
            <a:r>
              <a:rPr lang="en-US" altLang="ko-KR" sz="3651" dirty="0"/>
              <a:t>, </a:t>
            </a:r>
            <a:r>
              <a:rPr lang="ko-KR" altLang="en-US" sz="3651" dirty="0"/>
              <a:t>수량</a:t>
            </a:r>
            <a:r>
              <a:rPr lang="en-US" altLang="ko-KR" sz="3651" dirty="0"/>
              <a:t>, </a:t>
            </a:r>
            <a:r>
              <a:rPr lang="ko-KR" altLang="en-US" sz="3651" dirty="0"/>
              <a:t>단가</a:t>
            </a:r>
            <a:r>
              <a:rPr lang="en-US" altLang="ko-KR" sz="3651" dirty="0"/>
              <a:t>, </a:t>
            </a:r>
            <a:r>
              <a:rPr lang="ko-KR" altLang="en-US" sz="3651" dirty="0"/>
              <a:t>담당자</a:t>
            </a:r>
            <a:r>
              <a:rPr lang="en-US" altLang="ko-KR" sz="3651" dirty="0"/>
              <a:t>, </a:t>
            </a:r>
            <a:r>
              <a:rPr lang="ko-KR" altLang="en-US" sz="3651" b="1" dirty="0" err="1"/>
              <a:t>요청자</a:t>
            </a:r>
            <a:r>
              <a:rPr lang="en-US" altLang="ko-KR" sz="3651" b="1" dirty="0"/>
              <a:t>(*</a:t>
            </a:r>
            <a:r>
              <a:rPr lang="ko-KR" altLang="en-US" sz="3651" b="1" dirty="0"/>
              <a:t>필수</a:t>
            </a:r>
            <a:r>
              <a:rPr lang="en-US" altLang="ko-KR" sz="3651" b="1" dirty="0"/>
              <a:t>)</a:t>
            </a:r>
            <a:r>
              <a:rPr lang="en-US" altLang="ko-KR" sz="3651" dirty="0"/>
              <a:t>, </a:t>
            </a:r>
            <a:r>
              <a:rPr lang="ko-KR" altLang="en-US" sz="3651" dirty="0"/>
              <a:t>비고를 입력합니다</a:t>
            </a:r>
            <a:r>
              <a:rPr lang="en-US" altLang="ko-KR" sz="3651" dirty="0"/>
              <a:t>.</a:t>
            </a:r>
          </a:p>
          <a:p>
            <a:pPr>
              <a:buFont typeface="+mj-lt"/>
              <a:buAutoNum type="arabicParenR"/>
            </a:pPr>
            <a:r>
              <a:rPr lang="ko-KR" altLang="en-US" sz="3651" b="1" dirty="0"/>
              <a:t>   저장 및 최종 확인</a:t>
            </a:r>
            <a:r>
              <a:rPr lang="en-US" altLang="ko-KR" sz="3651" b="1" dirty="0"/>
              <a:t>:</a:t>
            </a:r>
            <a:r>
              <a:rPr lang="ko-KR" altLang="en-US" sz="3651" dirty="0"/>
              <a:t> </a:t>
            </a:r>
            <a:r>
              <a:rPr lang="ko-KR" altLang="en-US" sz="3651" dirty="0">
                <a:latin typeface="Courier New" panose="02070309020205020404" pitchFamily="49" charset="0"/>
              </a:rPr>
              <a:t>입출고 저장 실행</a:t>
            </a:r>
            <a:r>
              <a:rPr lang="ko-KR" altLang="en-US" sz="3651" dirty="0"/>
              <a:t> 버튼 클릭 후 나타나는 </a:t>
            </a:r>
            <a:r>
              <a:rPr lang="en-US" altLang="ko-KR" sz="3651" dirty="0"/>
              <a:t>Pop-up </a:t>
            </a:r>
            <a:r>
              <a:rPr lang="ko-KR" altLang="en-US" sz="3651" dirty="0"/>
              <a:t>창에서 내역을 확인하고 </a:t>
            </a:r>
            <a:r>
              <a:rPr lang="ko-KR" altLang="en-US" sz="3651" dirty="0">
                <a:latin typeface="Courier New" panose="02070309020205020404" pitchFamily="49" charset="0"/>
              </a:rPr>
              <a:t>최종 확인 및 실행</a:t>
            </a:r>
            <a:r>
              <a:rPr lang="ko-KR" altLang="en-US" sz="3651" dirty="0"/>
              <a:t>을 누릅니다</a:t>
            </a:r>
            <a:r>
              <a:rPr lang="en-US" altLang="ko-KR" sz="3651" dirty="0"/>
              <a:t>.</a:t>
            </a:r>
          </a:p>
          <a:p>
            <a:pPr>
              <a:buFont typeface="+mj-lt"/>
              <a:buAutoNum type="arabicParenR"/>
            </a:pPr>
            <a:endParaRPr lang="en-US" altLang="ko-KR" sz="3651" dirty="0"/>
          </a:p>
          <a:p>
            <a:r>
              <a:rPr lang="en-US" altLang="ko-KR" sz="3651" dirty="0">
                <a:highlight>
                  <a:srgbClr val="CCFF33"/>
                </a:highlight>
              </a:rPr>
              <a:t>Tip.</a:t>
            </a:r>
            <a:r>
              <a:rPr lang="en-US" altLang="ko-KR" sz="3651" dirty="0"/>
              <a:t> </a:t>
            </a:r>
            <a:r>
              <a:rPr lang="ko-KR" altLang="en-US" sz="3651" dirty="0"/>
              <a:t>품목 선택 후 하단의 </a:t>
            </a:r>
            <a:r>
              <a:rPr lang="ko-KR" altLang="en-US" sz="3651" dirty="0">
                <a:highlight>
                  <a:srgbClr val="CCFF33"/>
                </a:highlight>
              </a:rPr>
              <a:t>명세서를 확인</a:t>
            </a:r>
            <a:r>
              <a:rPr lang="ko-KR" altLang="en-US" sz="3651" dirty="0"/>
              <a:t>하여</a:t>
            </a:r>
            <a:r>
              <a:rPr lang="en-US" altLang="ko-KR" sz="3651" dirty="0"/>
              <a:t>, </a:t>
            </a:r>
            <a:r>
              <a:rPr lang="ko-KR" altLang="en-US" sz="3651" dirty="0"/>
              <a:t>품목을 바르게 선택했는지 한번 더 확인하면 실수를 줄일 수 있습니다</a:t>
            </a:r>
            <a:r>
              <a:rPr lang="en-US" altLang="ko-KR" sz="3651" dirty="0"/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6D7E9D3-B204-B81E-1F80-10F66E2F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9763" cy="197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6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C99AAF-CCA7-5608-A49C-FE21CCAA7FAD}"/>
              </a:ext>
            </a:extLst>
          </p:cNvPr>
          <p:cNvSpPr txBox="1"/>
          <p:nvPr/>
        </p:nvSpPr>
        <p:spPr>
          <a:xfrm>
            <a:off x="0" y="2796805"/>
            <a:ext cx="10799763" cy="571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51" b="1" dirty="0"/>
              <a:t>② 기존 내역 수정 및 삭제</a:t>
            </a:r>
            <a:endParaRPr lang="en-US" altLang="ko-KR" sz="3651" b="1" dirty="0"/>
          </a:p>
          <a:p>
            <a:pPr>
              <a:buNone/>
            </a:pPr>
            <a:endParaRPr lang="ko-KR" altLang="en-US" sz="3651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1" dirty="0">
                <a:latin typeface="Courier New" panose="02070309020205020404" pitchFamily="49" charset="0"/>
              </a:rPr>
              <a:t> 기존 입출고 내역 수정 및 삭제</a:t>
            </a:r>
            <a:r>
              <a:rPr lang="ko-KR" altLang="en-US" sz="3651" dirty="0"/>
              <a:t> 탭에서 날짜 범위와 키워드로 이전 입력 내역을 조회한 후</a:t>
            </a:r>
            <a:r>
              <a:rPr lang="en-US" altLang="ko-KR" sz="3651" dirty="0"/>
              <a:t>, </a:t>
            </a:r>
            <a:r>
              <a:rPr lang="ko-KR" altLang="en-US" sz="3651" dirty="0">
                <a:latin typeface="+mn-ea"/>
              </a:rPr>
              <a:t>수량</a:t>
            </a:r>
            <a:r>
              <a:rPr lang="en-US" altLang="ko-KR" sz="3651" dirty="0">
                <a:latin typeface="+mn-ea"/>
              </a:rPr>
              <a:t>·</a:t>
            </a:r>
            <a:r>
              <a:rPr lang="ko-KR" altLang="en-US" sz="3651" dirty="0">
                <a:latin typeface="+mn-ea"/>
              </a:rPr>
              <a:t>적용 단가 등 수정이나</a:t>
            </a:r>
            <a:r>
              <a:rPr lang="ko-KR" altLang="en-US" sz="3651" dirty="0"/>
              <a:t> 내역 삭제가 가능합니다</a:t>
            </a:r>
            <a:r>
              <a:rPr lang="en-US" altLang="ko-KR" sz="365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3651" dirty="0"/>
          </a:p>
          <a:p>
            <a:r>
              <a:rPr lang="en-US" altLang="ko-KR" sz="3651" dirty="0"/>
              <a:t>Tip. </a:t>
            </a:r>
            <a:r>
              <a:rPr lang="ko-KR" altLang="en-US" sz="3651" dirty="0"/>
              <a:t>수정이 필요한 내역의 날짜</a:t>
            </a:r>
            <a:r>
              <a:rPr lang="en-US" altLang="ko-KR" sz="3651" dirty="0"/>
              <a:t>, </a:t>
            </a:r>
            <a:r>
              <a:rPr lang="ko-KR" altLang="en-US" sz="3651" dirty="0" err="1"/>
              <a:t>요청자</a:t>
            </a:r>
            <a:r>
              <a:rPr lang="en-US" altLang="ko-KR" sz="3651" dirty="0"/>
              <a:t>, </a:t>
            </a:r>
            <a:r>
              <a:rPr lang="ko-KR" altLang="en-US" sz="3651" dirty="0"/>
              <a:t>품목코드를 미리 파악하여 내역을 검색 및 선택하면 보다 정확한 수정이 가능합니다</a:t>
            </a:r>
            <a:r>
              <a:rPr lang="en-US" altLang="ko-KR" sz="3651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861282-1D85-CBAE-1566-DEDF32568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5845"/>
            <a:ext cx="10799763" cy="52343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32DC28-48B8-4B7D-C6DE-8D0679889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99768" cy="195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06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6FB384F-A674-6907-6C4D-022EAEF969AE}"/>
              </a:ext>
            </a:extLst>
          </p:cNvPr>
          <p:cNvGrpSpPr/>
          <p:nvPr/>
        </p:nvGrpSpPr>
        <p:grpSpPr>
          <a:xfrm>
            <a:off x="-1747" y="0"/>
            <a:ext cx="10799764" cy="4404337"/>
            <a:chOff x="-17459" y="0"/>
            <a:chExt cx="10799764" cy="440433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DC8AF88-4282-0A8B-C8F2-A1CA98793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492" y="0"/>
              <a:ext cx="10771831" cy="197006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E7F943-E11E-78E4-7339-F602F2C81C97}"/>
                </a:ext>
              </a:extLst>
            </p:cNvPr>
            <p:cNvSpPr txBox="1"/>
            <p:nvPr/>
          </p:nvSpPr>
          <p:spPr>
            <a:xfrm>
              <a:off x="-17459" y="2065235"/>
              <a:ext cx="10799764" cy="2339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650" b="1" dirty="0"/>
                <a:t>✍️ 개별 직접 등록</a:t>
              </a:r>
              <a:r>
                <a:rPr lang="en-US" altLang="ko-KR" sz="3650" b="1" dirty="0"/>
                <a:t>:</a:t>
              </a:r>
              <a:r>
                <a:rPr lang="ko-KR" altLang="en-US" sz="3650" dirty="0"/>
                <a:t> 품목코드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품명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규격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분류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사진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초기 재고 수량 등을 직접 입력하여 신규 등록합니다</a:t>
              </a:r>
              <a:r>
                <a:rPr lang="en-US" altLang="ko-KR" sz="3650" dirty="0"/>
                <a:t>. DB</a:t>
              </a:r>
              <a:r>
                <a:rPr lang="ko-KR" altLang="en-US" sz="3650" dirty="0"/>
                <a:t>에 등록되어 있지 않은 완전 신규 품목을 등록하는 기능입니다</a:t>
              </a:r>
              <a:r>
                <a:rPr lang="en-US" altLang="ko-KR" sz="3650" dirty="0"/>
                <a:t>.</a:t>
              </a:r>
              <a:endParaRPr lang="ko-KR" altLang="en-US" sz="3650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53FF5F2-8073-8825-4897-3E8990A7F45C}"/>
              </a:ext>
            </a:extLst>
          </p:cNvPr>
          <p:cNvGrpSpPr/>
          <p:nvPr/>
        </p:nvGrpSpPr>
        <p:grpSpPr>
          <a:xfrm>
            <a:off x="5237" y="5865111"/>
            <a:ext cx="10785797" cy="3169620"/>
            <a:chOff x="27933" y="4926164"/>
            <a:chExt cx="10785797" cy="316962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4B51362-6C77-4595-5374-37DD9D9D9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33" y="4926164"/>
              <a:ext cx="10785797" cy="1920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E810C5-2E12-9F1D-85B2-9FD9EB97757D}"/>
                </a:ext>
              </a:extLst>
            </p:cNvPr>
            <p:cNvSpPr txBox="1"/>
            <p:nvPr/>
          </p:nvSpPr>
          <p:spPr>
            <a:xfrm>
              <a:off x="27933" y="6880067"/>
              <a:ext cx="10757864" cy="1215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650" b="1" dirty="0"/>
                <a:t>✏️ 기존 품목 수정</a:t>
              </a:r>
              <a:r>
                <a:rPr lang="en-US" altLang="ko-KR" sz="3650" b="1" dirty="0"/>
                <a:t>:</a:t>
              </a:r>
              <a:r>
                <a:rPr lang="ko-KR" altLang="en-US" sz="3650" dirty="0"/>
                <a:t> 기존 자재의 품명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단가</a:t>
              </a:r>
              <a:r>
                <a:rPr lang="en-US" altLang="ko-KR" sz="3650" dirty="0"/>
                <a:t>, </a:t>
              </a:r>
              <a:r>
                <a:rPr lang="ko-KR" altLang="en-US" sz="3650" dirty="0"/>
                <a:t>비고 및 첨부 사진을 수정하거나 교체합니다</a:t>
              </a:r>
              <a:r>
                <a:rPr lang="en-US" altLang="ko-KR" sz="3650" dirty="0"/>
                <a:t>.</a:t>
              </a:r>
              <a:endParaRPr lang="ko-KR" altLang="en-US" sz="365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FC40734-EF12-C28C-1C57-E6B2EBB24D6E}"/>
              </a:ext>
            </a:extLst>
          </p:cNvPr>
          <p:cNvGrpSpPr/>
          <p:nvPr/>
        </p:nvGrpSpPr>
        <p:grpSpPr>
          <a:xfrm>
            <a:off x="19203" y="10495504"/>
            <a:ext cx="10757864" cy="3678947"/>
            <a:chOff x="20949" y="9458842"/>
            <a:chExt cx="10757864" cy="367894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22CA19E0-14D7-047E-2223-9207EC00F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49" y="9458842"/>
              <a:ext cx="10757864" cy="190153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7E6F58-2DE4-E77A-F910-312618A5EACA}"/>
                </a:ext>
              </a:extLst>
            </p:cNvPr>
            <p:cNvSpPr txBox="1"/>
            <p:nvPr/>
          </p:nvSpPr>
          <p:spPr>
            <a:xfrm>
              <a:off x="20949" y="11360379"/>
              <a:ext cx="10757864" cy="1777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650" b="1" dirty="0"/>
                <a:t>📂 기초 데이터 엑셀 일괄 등록</a:t>
              </a:r>
              <a:r>
                <a:rPr lang="en-US" altLang="ko-KR" sz="3650" b="1" dirty="0"/>
                <a:t>:</a:t>
              </a:r>
              <a:r>
                <a:rPr lang="ko-KR" altLang="en-US" sz="3650" dirty="0"/>
                <a:t> 대량의 자재 목록을 엑셀 파일</a:t>
              </a:r>
              <a:r>
                <a:rPr lang="en-US" altLang="ko-KR" sz="3650" dirty="0"/>
                <a:t>(.xlsx)</a:t>
              </a:r>
              <a:r>
                <a:rPr lang="ko-KR" altLang="en-US" sz="3650" dirty="0"/>
                <a:t>로 한번에 일괄 업로드합니다</a:t>
              </a:r>
              <a:r>
                <a:rPr lang="en-US" altLang="ko-KR" sz="3650" dirty="0"/>
                <a:t>. </a:t>
              </a:r>
              <a:r>
                <a:rPr lang="ko-KR" altLang="en-US" sz="3650" dirty="0"/>
                <a:t>양식 파일은 </a:t>
              </a:r>
              <a:r>
                <a:rPr lang="en-US" altLang="ko-KR" sz="3650" dirty="0" err="1"/>
                <a:t>my_erp</a:t>
              </a:r>
              <a:r>
                <a:rPr lang="en-US" altLang="ko-KR" sz="3650" dirty="0"/>
                <a:t> </a:t>
              </a:r>
              <a:r>
                <a:rPr lang="ko-KR" altLang="en-US" sz="3650" dirty="0"/>
                <a:t>폴더 안에 있습니다</a:t>
              </a:r>
              <a:r>
                <a:rPr lang="en-US" altLang="ko-KR" sz="3650" dirty="0"/>
                <a:t>.</a:t>
              </a:r>
              <a:endParaRPr lang="ko-KR" altLang="en-US" sz="365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057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494A3F-2410-90D2-D21B-394BBABECD49}"/>
              </a:ext>
            </a:extLst>
          </p:cNvPr>
          <p:cNvSpPr txBox="1"/>
          <p:nvPr/>
        </p:nvSpPr>
        <p:spPr>
          <a:xfrm>
            <a:off x="0" y="0"/>
            <a:ext cx="10799763" cy="402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50" b="1" dirty="0"/>
              <a:t>시스템 기술 스택 구조 및 유지보수 가이드</a:t>
            </a:r>
            <a:endParaRPr lang="en-US" altLang="ko-KR" sz="3650" b="1" dirty="0"/>
          </a:p>
          <a:p>
            <a:pPr>
              <a:buNone/>
            </a:pPr>
            <a:r>
              <a:rPr lang="en-US" altLang="ko-KR" sz="3650" b="1" dirty="0"/>
              <a:t>(</a:t>
            </a:r>
            <a:r>
              <a:rPr lang="ko-KR" altLang="en-US" sz="3650" b="1" dirty="0"/>
              <a:t>관리자 전용</a:t>
            </a:r>
            <a:r>
              <a:rPr lang="en-US" altLang="ko-KR" sz="3650" b="1" dirty="0"/>
              <a:t>)</a:t>
            </a:r>
          </a:p>
          <a:p>
            <a:pPr>
              <a:buNone/>
            </a:pPr>
            <a:endParaRPr lang="en-US" altLang="ko-KR" sz="3650" b="1" dirty="0"/>
          </a:p>
          <a:p>
            <a:pPr>
              <a:buNone/>
            </a:pPr>
            <a:r>
              <a:rPr lang="ko-KR" altLang="en-US" sz="3650" dirty="0"/>
              <a:t>본 </a:t>
            </a:r>
            <a:r>
              <a:rPr lang="ko-KR" altLang="en-US" sz="3650" dirty="0" err="1"/>
              <a:t>광주오포센터</a:t>
            </a:r>
            <a:r>
              <a:rPr lang="ko-KR" altLang="en-US" sz="3650" dirty="0"/>
              <a:t> 자동화 </a:t>
            </a:r>
            <a:r>
              <a:rPr lang="en-US" altLang="ko-KR" sz="3650" dirty="0"/>
              <a:t>ERP </a:t>
            </a:r>
            <a:r>
              <a:rPr lang="ko-KR" altLang="en-US" sz="3650" dirty="0"/>
              <a:t>시스템은 </a:t>
            </a:r>
            <a:r>
              <a:rPr lang="en-US" altLang="ko-KR" sz="3650" b="1" dirty="0"/>
              <a:t>GitHub</a:t>
            </a:r>
            <a:r>
              <a:rPr lang="en-US" altLang="ko-KR" sz="3650" dirty="0"/>
              <a:t>, </a:t>
            </a:r>
            <a:r>
              <a:rPr lang="en-US" altLang="ko-KR" sz="3650" b="1" dirty="0" err="1"/>
              <a:t>Streamlit</a:t>
            </a:r>
            <a:r>
              <a:rPr lang="en-US" altLang="ko-KR" sz="3650" dirty="0"/>
              <a:t>, </a:t>
            </a:r>
            <a:r>
              <a:rPr lang="en-US" altLang="ko-KR" sz="3650" b="1" dirty="0" err="1"/>
              <a:t>Supabase</a:t>
            </a:r>
            <a:r>
              <a:rPr lang="ko-KR" altLang="en-US" sz="3650" dirty="0"/>
              <a:t>의 </a:t>
            </a:r>
            <a:r>
              <a:rPr lang="en-US" altLang="ko-KR" sz="3650" dirty="0"/>
              <a:t>3</a:t>
            </a:r>
            <a:r>
              <a:rPr lang="ko-KR" altLang="en-US" sz="3650" dirty="0"/>
              <a:t>가지 핵심 기술 조합으로 구축되어 있습니다</a:t>
            </a:r>
            <a:r>
              <a:rPr lang="en-US" altLang="ko-KR" sz="3650" dirty="0"/>
              <a:t>. </a:t>
            </a:r>
            <a:r>
              <a:rPr lang="ko-KR" altLang="en-US" sz="3650" dirty="0"/>
              <a:t>각 기술의 역할과 기본적인 수정 및 관리 방법은 다음과 같습니다</a:t>
            </a:r>
            <a:r>
              <a:rPr lang="en-US" altLang="ko-KR" sz="3650" dirty="0"/>
              <a:t>.</a:t>
            </a:r>
          </a:p>
        </p:txBody>
      </p:sp>
      <p:pic>
        <p:nvPicPr>
          <p:cNvPr id="1026" name="Picture 2" descr="What is GitHub.. GitHub is a platform for online… | by Sameer Hussain |  Medium">
            <a:extLst>
              <a:ext uri="{FF2B5EF4-FFF2-40B4-BE49-F238E27FC236}">
                <a16:creationId xmlns:a16="http://schemas.microsoft.com/office/drawing/2014/main" id="{9FC0DA66-3990-4116-6777-ED0566E93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97530"/>
            <a:ext cx="4249219" cy="157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C1744F-A485-AB7C-F7C0-B46454F00348}"/>
              </a:ext>
            </a:extLst>
          </p:cNvPr>
          <p:cNvSpPr txBox="1"/>
          <p:nvPr/>
        </p:nvSpPr>
        <p:spPr>
          <a:xfrm>
            <a:off x="-1" y="6172574"/>
            <a:ext cx="10799763" cy="627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50" b="1" dirty="0"/>
              <a:t>① </a:t>
            </a:r>
            <a:r>
              <a:rPr lang="en-US" altLang="ko-KR" sz="3650" b="1" dirty="0"/>
              <a:t>GitHub (</a:t>
            </a:r>
            <a:r>
              <a:rPr lang="ko-KR" altLang="en-US" sz="3650" b="1" dirty="0"/>
              <a:t>기능 추가 및 수정</a:t>
            </a:r>
            <a:r>
              <a:rPr lang="en-US" altLang="ko-KR" sz="365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0" b="1" dirty="0"/>
              <a:t>역할과 기능</a:t>
            </a:r>
            <a:r>
              <a:rPr lang="en-US" altLang="ko-KR" sz="3650" b="1" dirty="0"/>
              <a:t>:</a:t>
            </a:r>
            <a:endParaRPr lang="ko-KR" altLang="en-US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3650" dirty="0"/>
              <a:t>ERP </a:t>
            </a:r>
            <a:r>
              <a:rPr lang="ko-KR" altLang="en-US" sz="3650" dirty="0"/>
              <a:t>앱의 전체 소스 코드</a:t>
            </a:r>
            <a:r>
              <a:rPr lang="en-US" altLang="ko-KR" sz="3650" dirty="0"/>
              <a:t>(</a:t>
            </a:r>
            <a:r>
              <a:rPr lang="en-US" altLang="ko-KR" sz="3650" dirty="0" err="1">
                <a:latin typeface="Courier New" panose="02070309020205020404" pitchFamily="49" charset="0"/>
              </a:rPr>
              <a:t>app.py</a:t>
            </a:r>
            <a:r>
              <a:rPr lang="en-US" altLang="ko-KR" sz="3650" dirty="0"/>
              <a:t>, </a:t>
            </a:r>
            <a:r>
              <a:rPr lang="ko-KR" altLang="en-US" sz="3650" dirty="0"/>
              <a:t>데이터베이스 연동 모듈 등</a:t>
            </a:r>
            <a:r>
              <a:rPr lang="en-US" altLang="ko-KR" sz="3650" dirty="0"/>
              <a:t>)</a:t>
            </a:r>
            <a:r>
              <a:rPr lang="ko-KR" altLang="en-US" sz="3650" dirty="0"/>
              <a:t>를 안전하게 저장하고 관리하는 저장소</a:t>
            </a:r>
            <a:r>
              <a:rPr lang="en-US" altLang="ko-KR" sz="3650" dirty="0"/>
              <a:t>(Repository)</a:t>
            </a:r>
            <a:r>
              <a:rPr lang="ko-KR" altLang="en-US" sz="3650" dirty="0"/>
              <a:t>입니다</a:t>
            </a:r>
            <a:r>
              <a:rPr lang="en-US" altLang="ko-KR" sz="36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dirty="0"/>
              <a:t>코드가 수정될 때마다 이력이 기록되며</a:t>
            </a:r>
            <a:r>
              <a:rPr lang="en-US" altLang="ko-KR" sz="3650" dirty="0"/>
              <a:t>, </a:t>
            </a:r>
            <a:r>
              <a:rPr lang="en-US" altLang="ko-KR" sz="3650" dirty="0" err="1"/>
              <a:t>Streamlit</a:t>
            </a:r>
            <a:r>
              <a:rPr lang="en-US" altLang="ko-KR" sz="3650" dirty="0"/>
              <a:t> Cloud</a:t>
            </a:r>
            <a:r>
              <a:rPr lang="ko-KR" altLang="en-US" sz="3650" dirty="0"/>
              <a:t>와 실시간으로 연동되어 코드 업데이트 시 웹 앱에 자동 반영됩니다</a:t>
            </a:r>
            <a:r>
              <a:rPr lang="en-US" altLang="ko-KR" sz="36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3650" dirty="0" err="1"/>
              <a:t>app.py</a:t>
            </a:r>
            <a:r>
              <a:rPr lang="en-US" altLang="ko-KR" sz="3650" dirty="0"/>
              <a:t> : </a:t>
            </a:r>
            <a:r>
              <a:rPr lang="ko-KR" altLang="en-US" sz="3650" dirty="0"/>
              <a:t>기능 수행을 관장하는 메인 코드</a:t>
            </a:r>
            <a:endParaRPr lang="en-US" altLang="ko-KR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3650" dirty="0" err="1"/>
              <a:t>db_helper.py</a:t>
            </a:r>
            <a:r>
              <a:rPr lang="en-US" altLang="ko-KR" sz="3650" dirty="0"/>
              <a:t> : </a:t>
            </a:r>
            <a:r>
              <a:rPr lang="ko-KR" altLang="en-US" sz="3650" dirty="0"/>
              <a:t>데이터 베이스 호출 관장 코드</a:t>
            </a:r>
            <a:endParaRPr lang="en-US" altLang="ko-KR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3650" dirty="0" err="1"/>
              <a:t>Requirements.txt</a:t>
            </a:r>
            <a:r>
              <a:rPr lang="en-US" altLang="ko-KR" sz="3650" dirty="0"/>
              <a:t> : </a:t>
            </a:r>
            <a:r>
              <a:rPr lang="ko-KR" altLang="en-US" sz="3650" dirty="0"/>
              <a:t>기능 수행에 필요한 도구 목록</a:t>
            </a:r>
            <a:endParaRPr lang="en-US" altLang="ko-KR" sz="3650" dirty="0"/>
          </a:p>
        </p:txBody>
      </p:sp>
    </p:spTree>
    <p:extLst>
      <p:ext uri="{BB962C8B-B14F-4D97-AF65-F5344CB8AC3E}">
        <p14:creationId xmlns:p14="http://schemas.microsoft.com/office/powerpoint/2010/main" val="275112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pabase is Supa Awesome: Here is Why You Should Use It for Your Next Web  Application | by Abe Ahn | Medium">
            <a:extLst>
              <a:ext uri="{FF2B5EF4-FFF2-40B4-BE49-F238E27FC236}">
                <a16:creationId xmlns:a16="http://schemas.microsoft.com/office/drawing/2014/main" id="{DB33F381-7231-2BDD-FDE5-1DB59A16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99881" cy="130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8C192C-39BB-1D36-5670-E9DF5A08988A}"/>
              </a:ext>
            </a:extLst>
          </p:cNvPr>
          <p:cNvSpPr txBox="1"/>
          <p:nvPr/>
        </p:nvSpPr>
        <p:spPr>
          <a:xfrm>
            <a:off x="0" y="1303337"/>
            <a:ext cx="10799764" cy="1188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3650" b="1" dirty="0" err="1"/>
              <a:t>Supabase</a:t>
            </a:r>
            <a:r>
              <a:rPr lang="en-US" altLang="ko-KR" sz="3650" b="1" dirty="0"/>
              <a:t> (</a:t>
            </a:r>
            <a:r>
              <a:rPr lang="ko-KR" altLang="en-US" sz="3650" b="1" dirty="0"/>
              <a:t>데이터베이스 저장 및 관리</a:t>
            </a:r>
            <a:r>
              <a:rPr lang="en-US" altLang="ko-KR" sz="365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0" b="1" dirty="0"/>
              <a:t>역할과 기능</a:t>
            </a:r>
            <a:r>
              <a:rPr lang="en-US" altLang="ko-KR" sz="3650" b="1" dirty="0"/>
              <a:t>:</a:t>
            </a:r>
            <a:endParaRPr lang="ko-KR" altLang="en-US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dirty="0"/>
              <a:t>센터의 모든 자재 정보</a:t>
            </a:r>
            <a:r>
              <a:rPr lang="en-US" altLang="ko-KR" sz="3650" dirty="0"/>
              <a:t>(</a:t>
            </a:r>
            <a:r>
              <a:rPr lang="en-US" altLang="ko-KR" sz="3650" dirty="0">
                <a:latin typeface="Courier New" panose="02070309020205020404" pitchFamily="49" charset="0"/>
              </a:rPr>
              <a:t>items</a:t>
            </a:r>
            <a:r>
              <a:rPr lang="en-US" altLang="ko-KR" sz="3650" dirty="0"/>
              <a:t>), </a:t>
            </a:r>
            <a:r>
              <a:rPr lang="ko-KR" altLang="en-US" sz="3650" dirty="0"/>
              <a:t>입출고 트랜잭션</a:t>
            </a:r>
            <a:r>
              <a:rPr lang="en-US" altLang="ko-KR" sz="3650" dirty="0"/>
              <a:t>(</a:t>
            </a:r>
            <a:r>
              <a:rPr lang="en-US" altLang="ko-KR" sz="3650" dirty="0" err="1">
                <a:latin typeface="Courier New" panose="02070309020205020404" pitchFamily="49" charset="0"/>
              </a:rPr>
              <a:t>stock_transactions</a:t>
            </a:r>
            <a:r>
              <a:rPr lang="en-US" altLang="ko-KR" sz="3650" dirty="0"/>
              <a:t>), </a:t>
            </a:r>
            <a:r>
              <a:rPr lang="ko-KR" altLang="en-US" sz="3650" dirty="0"/>
              <a:t>사용자 계정</a:t>
            </a:r>
            <a:r>
              <a:rPr lang="en-US" altLang="ko-KR" sz="3650" dirty="0"/>
              <a:t>(</a:t>
            </a:r>
            <a:r>
              <a:rPr lang="en-US" altLang="ko-KR" sz="3650" dirty="0">
                <a:latin typeface="Courier New" panose="02070309020205020404" pitchFamily="49" charset="0"/>
              </a:rPr>
              <a:t>users</a:t>
            </a:r>
            <a:r>
              <a:rPr lang="en-US" altLang="ko-KR" sz="3650" dirty="0"/>
              <a:t>), </a:t>
            </a:r>
            <a:r>
              <a:rPr lang="ko-KR" altLang="en-US" sz="3650" dirty="0"/>
              <a:t>환율 정보</a:t>
            </a:r>
            <a:r>
              <a:rPr lang="en-US" altLang="ko-KR" sz="3650" dirty="0"/>
              <a:t>(</a:t>
            </a:r>
            <a:r>
              <a:rPr lang="en-US" altLang="ko-KR" sz="3650" dirty="0" err="1">
                <a:latin typeface="Courier New" panose="02070309020205020404" pitchFamily="49" charset="0"/>
              </a:rPr>
              <a:t>exchange_rates</a:t>
            </a:r>
            <a:r>
              <a:rPr lang="en-US" altLang="ko-KR" sz="3650" dirty="0"/>
              <a:t>)</a:t>
            </a:r>
            <a:r>
              <a:rPr lang="ko-KR" altLang="en-US" sz="3650" dirty="0"/>
              <a:t>를 안전하게 보관하는 클라우드 데이터베이스</a:t>
            </a:r>
            <a:r>
              <a:rPr lang="en-US" altLang="ko-KR" sz="3650" dirty="0"/>
              <a:t>(PostgreSQL </a:t>
            </a:r>
            <a:r>
              <a:rPr lang="ko-KR" altLang="en-US" sz="3650" dirty="0"/>
              <a:t>기반</a:t>
            </a:r>
            <a:r>
              <a:rPr lang="en-US" altLang="ko-KR" sz="3650" dirty="0"/>
              <a:t>)</a:t>
            </a:r>
            <a:r>
              <a:rPr lang="ko-KR" altLang="en-US" sz="3650" dirty="0"/>
              <a:t>입니다</a:t>
            </a:r>
            <a:r>
              <a:rPr lang="en-US" altLang="ko-KR" sz="36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dirty="0"/>
              <a:t>데이터 저장</a:t>
            </a:r>
            <a:r>
              <a:rPr lang="en-US" altLang="ko-KR" sz="3650" dirty="0"/>
              <a:t>, </a:t>
            </a:r>
            <a:r>
              <a:rPr lang="ko-KR" altLang="en-US" sz="3650" dirty="0"/>
              <a:t>불러오기</a:t>
            </a:r>
            <a:r>
              <a:rPr lang="en-US" altLang="ko-KR" sz="3650" dirty="0"/>
              <a:t>, </a:t>
            </a:r>
            <a:r>
              <a:rPr lang="ko-KR" altLang="en-US" sz="3650" dirty="0"/>
              <a:t>수정</a:t>
            </a:r>
            <a:r>
              <a:rPr lang="en-US" altLang="ko-KR" sz="3650" dirty="0"/>
              <a:t>, </a:t>
            </a:r>
            <a:r>
              <a:rPr lang="ko-KR" altLang="en-US" sz="3650" dirty="0"/>
              <a:t>삭제 등의 </a:t>
            </a:r>
            <a:r>
              <a:rPr lang="ko-KR" altLang="en-US" sz="3650" dirty="0" err="1"/>
              <a:t>백엔드</a:t>
            </a:r>
            <a:r>
              <a:rPr lang="ko-KR" altLang="en-US" sz="3650" dirty="0"/>
              <a:t> 처리를 담당합니다</a:t>
            </a:r>
            <a:r>
              <a:rPr lang="en-US" altLang="ko-KR" sz="36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0" b="1" dirty="0"/>
              <a:t>기본적인 사용 방법</a:t>
            </a:r>
            <a:r>
              <a:rPr lang="en-US" altLang="ko-KR" sz="3650" b="1" dirty="0"/>
              <a:t>:</a:t>
            </a:r>
            <a:endParaRPr lang="ko-KR" altLang="en-US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b="1" dirty="0"/>
              <a:t>데이터 직접 확인</a:t>
            </a:r>
            <a:r>
              <a:rPr lang="en-US" altLang="ko-KR" sz="3650" b="1" dirty="0"/>
              <a:t>/</a:t>
            </a:r>
            <a:r>
              <a:rPr lang="ko-KR" altLang="en-US" sz="3650" b="1" dirty="0"/>
              <a:t>수정</a:t>
            </a:r>
            <a:r>
              <a:rPr lang="en-US" altLang="ko-KR" sz="3650" b="1" dirty="0"/>
              <a:t>:</a:t>
            </a:r>
            <a:r>
              <a:rPr lang="ko-KR" altLang="en-US" sz="3650" dirty="0"/>
              <a:t> </a:t>
            </a:r>
            <a:r>
              <a:rPr lang="en-US" altLang="ko-KR" sz="3650" dirty="0" err="1"/>
              <a:t>Supabase</a:t>
            </a:r>
            <a:r>
              <a:rPr lang="en-US" altLang="ko-KR" sz="3650" dirty="0"/>
              <a:t> </a:t>
            </a:r>
            <a:r>
              <a:rPr lang="ko-KR" altLang="en-US" sz="3650" dirty="0"/>
              <a:t>대시보드에 로그인한 후 </a:t>
            </a:r>
            <a:r>
              <a:rPr lang="en-US" altLang="ko-KR" sz="3650" b="1" dirty="0"/>
              <a:t>Table Editor</a:t>
            </a:r>
            <a:r>
              <a:rPr lang="ko-KR" altLang="en-US" sz="3650" dirty="0"/>
              <a:t> 메뉴로 이동하면 엑셀 시트처럼 자재 목록이나 사용자 정보를 직접 확인하고 긴급 수정할 수 있습니다</a:t>
            </a:r>
            <a:r>
              <a:rPr lang="en-US" altLang="ko-KR" sz="36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b="1" dirty="0"/>
              <a:t>테이블 구조 확인</a:t>
            </a:r>
            <a:r>
              <a:rPr lang="en-US" altLang="ko-KR" sz="3650" b="1" dirty="0"/>
              <a:t>:</a:t>
            </a:r>
            <a:r>
              <a:rPr lang="ko-KR" altLang="en-US" sz="3650" dirty="0"/>
              <a:t> 새로운 컬럼</a:t>
            </a:r>
            <a:r>
              <a:rPr lang="en-US" altLang="ko-KR" sz="3650" dirty="0"/>
              <a:t>(</a:t>
            </a:r>
            <a:r>
              <a:rPr lang="ko-KR" altLang="en-US" sz="3650" dirty="0"/>
              <a:t>열</a:t>
            </a:r>
            <a:r>
              <a:rPr lang="en-US" altLang="ko-KR" sz="3650" dirty="0"/>
              <a:t>)</a:t>
            </a:r>
            <a:r>
              <a:rPr lang="ko-KR" altLang="en-US" sz="3650" dirty="0"/>
              <a:t>을 추가하거나 데이터 타입을 변경해야 할 때는 </a:t>
            </a:r>
            <a:r>
              <a:rPr lang="en-US" altLang="ko-KR" sz="3650" dirty="0" err="1"/>
              <a:t>Supabase</a:t>
            </a:r>
            <a:r>
              <a:rPr lang="ko-KR" altLang="en-US" sz="3650" dirty="0"/>
              <a:t>의 </a:t>
            </a:r>
            <a:r>
              <a:rPr lang="en-US" altLang="ko-KR" sz="3650" dirty="0"/>
              <a:t>SQL Editor</a:t>
            </a:r>
            <a:r>
              <a:rPr lang="ko-KR" altLang="en-US" sz="3650" dirty="0"/>
              <a:t>나 </a:t>
            </a:r>
            <a:r>
              <a:rPr lang="en-US" altLang="ko-KR" sz="3650" dirty="0"/>
              <a:t>Table Editor </a:t>
            </a:r>
            <a:r>
              <a:rPr lang="ko-KR" altLang="en-US" sz="3650" dirty="0"/>
              <a:t>기능을 활용합니다</a:t>
            </a:r>
            <a:r>
              <a:rPr lang="en-US" altLang="ko-KR" sz="36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3650" dirty="0"/>
          </a:p>
          <a:p>
            <a:pPr lvl="1"/>
            <a:r>
              <a:rPr lang="ko-KR" altLang="en-US" sz="3650" dirty="0"/>
              <a:t>* 데이터가 지워지면 복구를 할 수 없습니다</a:t>
            </a:r>
            <a:r>
              <a:rPr lang="en-US" altLang="ko-KR" sz="3650" dirty="0"/>
              <a:t>. </a:t>
            </a:r>
            <a:r>
              <a:rPr lang="en-US" altLang="ko-KR" sz="3650" dirty="0" err="1"/>
              <a:t>Supabase</a:t>
            </a:r>
            <a:r>
              <a:rPr lang="ko-KR" altLang="en-US" sz="3650" dirty="0"/>
              <a:t>에서 데이터를 수정하거나 삭제하는 것은 가급적 지양 바랍니다</a:t>
            </a:r>
            <a:r>
              <a:rPr lang="en-US" altLang="ko-KR" sz="3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9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개념정리] Streamlit👑 소개 및 활용 가이드">
            <a:extLst>
              <a:ext uri="{FF2B5EF4-FFF2-40B4-BE49-F238E27FC236}">
                <a16:creationId xmlns:a16="http://schemas.microsoft.com/office/drawing/2014/main" id="{BCE7E5A8-9757-DCF0-B383-E2763640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99881" cy="31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7F52E2-78B5-AE4E-30FA-18811B73FBFD}"/>
              </a:ext>
            </a:extLst>
          </p:cNvPr>
          <p:cNvSpPr txBox="1"/>
          <p:nvPr/>
        </p:nvSpPr>
        <p:spPr>
          <a:xfrm>
            <a:off x="-1" y="3160712"/>
            <a:ext cx="10799763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3650" b="1" dirty="0" err="1"/>
              <a:t>Streamlit</a:t>
            </a:r>
            <a:r>
              <a:rPr lang="en-US" altLang="ko-KR" sz="3650" b="1" dirty="0"/>
              <a:t> (</a:t>
            </a:r>
            <a:r>
              <a:rPr lang="ko-KR" altLang="en-US" sz="3650" b="1" dirty="0"/>
              <a:t>코드 기능을 웹으로 구현</a:t>
            </a:r>
            <a:r>
              <a:rPr lang="en-US" altLang="ko-KR" sz="365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0" b="1" dirty="0"/>
              <a:t>역할과 기능</a:t>
            </a:r>
            <a:r>
              <a:rPr lang="en-US" altLang="ko-KR" sz="3650" b="1" dirty="0"/>
              <a:t>:</a:t>
            </a:r>
            <a:endParaRPr lang="ko-KR" altLang="en-US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dirty="0"/>
              <a:t>파이썬</a:t>
            </a:r>
            <a:r>
              <a:rPr lang="en-US" altLang="ko-KR" sz="3650" dirty="0"/>
              <a:t>(Python) </a:t>
            </a:r>
            <a:r>
              <a:rPr lang="ko-KR" altLang="en-US" sz="3650" dirty="0"/>
              <a:t>코드를 기반으로 복잡한 </a:t>
            </a:r>
            <a:r>
              <a:rPr lang="en-US" altLang="ko-KR" sz="3650" dirty="0"/>
              <a:t>HTML/JS </a:t>
            </a:r>
            <a:r>
              <a:rPr lang="ko-KR" altLang="en-US" sz="3650" dirty="0"/>
              <a:t>작업 없이 직관적인 웹 화면</a:t>
            </a:r>
            <a:r>
              <a:rPr lang="en-US" altLang="ko-KR" sz="3650" dirty="0"/>
              <a:t>(UI)</a:t>
            </a:r>
            <a:r>
              <a:rPr lang="ko-KR" altLang="en-US" sz="3650" dirty="0"/>
              <a:t>과 대시보드를 만들어주는 프레임워크입니다</a:t>
            </a:r>
            <a:r>
              <a:rPr lang="en-US" altLang="ko-KR" sz="36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dirty="0"/>
              <a:t>사용자가 보는 버튼</a:t>
            </a:r>
            <a:r>
              <a:rPr lang="en-US" altLang="ko-KR" sz="3650" dirty="0"/>
              <a:t>, </a:t>
            </a:r>
            <a:r>
              <a:rPr lang="ko-KR" altLang="en-US" sz="3650" dirty="0"/>
              <a:t>입력 폼</a:t>
            </a:r>
            <a:r>
              <a:rPr lang="en-US" altLang="ko-KR" sz="3650" dirty="0"/>
              <a:t>, </a:t>
            </a:r>
            <a:r>
              <a:rPr lang="ko-KR" altLang="en-US" sz="3650" dirty="0"/>
              <a:t>표</a:t>
            </a:r>
            <a:r>
              <a:rPr lang="en-US" altLang="ko-KR" sz="3650" dirty="0"/>
              <a:t>(</a:t>
            </a:r>
            <a:r>
              <a:rPr lang="en-US" altLang="ko-KR" sz="3650" dirty="0" err="1"/>
              <a:t>DataFrame</a:t>
            </a:r>
            <a:r>
              <a:rPr lang="en-US" altLang="ko-KR" sz="3650" dirty="0"/>
              <a:t>), </a:t>
            </a:r>
            <a:r>
              <a:rPr lang="ko-KR" altLang="en-US" sz="3650" dirty="0"/>
              <a:t>그래프 등이 모두 </a:t>
            </a:r>
            <a:r>
              <a:rPr lang="en-US" altLang="ko-KR" sz="3650" dirty="0" err="1"/>
              <a:t>Streamlit</a:t>
            </a:r>
            <a:r>
              <a:rPr lang="en-US" altLang="ko-KR" sz="3650" dirty="0"/>
              <a:t> </a:t>
            </a:r>
            <a:r>
              <a:rPr lang="ko-KR" altLang="en-US" sz="3650" dirty="0"/>
              <a:t>라이브러리로 구현되어 있습니다</a:t>
            </a:r>
            <a:r>
              <a:rPr lang="en-US" altLang="ko-KR" sz="36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650" b="1" dirty="0"/>
              <a:t>기본적인 사용 방법</a:t>
            </a:r>
            <a:r>
              <a:rPr lang="en-US" altLang="ko-KR" sz="3650" b="1" dirty="0"/>
              <a:t>:</a:t>
            </a:r>
            <a:endParaRPr lang="ko-KR" altLang="en-US" sz="36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3650" dirty="0"/>
              <a:t>화면 레이아웃이나 문구를 변경하고 싶을 때는 </a:t>
            </a:r>
            <a:r>
              <a:rPr lang="en-US" altLang="ko-KR" sz="3650" dirty="0" err="1"/>
              <a:t>Github</a:t>
            </a:r>
            <a:r>
              <a:rPr lang="ko-KR" altLang="en-US" sz="3650" dirty="0"/>
              <a:t>의 </a:t>
            </a:r>
            <a:r>
              <a:rPr lang="en-US" altLang="ko-KR" sz="3650" dirty="0" err="1"/>
              <a:t>app.py</a:t>
            </a:r>
            <a:r>
              <a:rPr lang="en-US" altLang="ko-KR" sz="3650" dirty="0"/>
              <a:t> </a:t>
            </a:r>
            <a:r>
              <a:rPr lang="ko-KR" altLang="en-US" sz="3650" dirty="0"/>
              <a:t>코드를 통해 수정하면</a:t>
            </a:r>
            <a:r>
              <a:rPr lang="en-US" altLang="ko-KR" sz="3650" dirty="0"/>
              <a:t>, </a:t>
            </a:r>
            <a:r>
              <a:rPr lang="ko-KR" altLang="en-US" sz="3650" dirty="0"/>
              <a:t>잠시 후 수정사항이 반영된 웹페이지를 이용가능 합니다</a:t>
            </a:r>
            <a:r>
              <a:rPr lang="en-US" altLang="ko-KR" sz="3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8910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428</TotalTime>
  <Words>1153</Words>
  <Application>Microsoft Office PowerPoint</Application>
  <PresentationFormat>사용자 지정</PresentationFormat>
  <Paragraphs>115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굴림</vt:lpstr>
      <vt:lpstr>Arial</vt:lpstr>
      <vt:lpstr>Calibri</vt:lpstr>
      <vt:lpstr>Calibri Light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neo004 etm</dc:creator>
  <cp:lastModifiedBy>neo004 etm</cp:lastModifiedBy>
  <cp:revision>4</cp:revision>
  <dcterms:created xsi:type="dcterms:W3CDTF">2026-10-18T01:54:31Z</dcterms:created>
  <dcterms:modified xsi:type="dcterms:W3CDTF">2026-10-19T06:11:11Z</dcterms:modified>
</cp:coreProperties>
</file>